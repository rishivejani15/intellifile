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9"/>
  </p:notesMasterIdLst>
  <p:handoutMasterIdLst>
    <p:handoutMasterId r:id="rId20"/>
  </p:handoutMasterIdLst>
  <p:sldIdLst>
    <p:sldId id="256" r:id="rId5"/>
    <p:sldId id="257" r:id="rId6"/>
    <p:sldId id="288" r:id="rId7"/>
    <p:sldId id="293" r:id="rId8"/>
    <p:sldId id="295" r:id="rId9"/>
    <p:sldId id="289" r:id="rId10"/>
    <p:sldId id="294" r:id="rId11"/>
    <p:sldId id="296" r:id="rId12"/>
    <p:sldId id="297" r:id="rId13"/>
    <p:sldId id="301" r:id="rId14"/>
    <p:sldId id="298" r:id="rId15"/>
    <p:sldId id="300" r:id="rId16"/>
    <p:sldId id="292"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114B79"/>
    <a:srgbClr val="002060"/>
    <a:srgbClr val="BBBBBB"/>
    <a:srgbClr val="1971B6"/>
    <a:srgbClr val="0099FF"/>
    <a:srgbClr val="2196F3"/>
    <a:srgbClr val="006666"/>
    <a:srgbClr val="00808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5033" autoAdjust="0"/>
  </p:normalViewPr>
  <p:slideViewPr>
    <p:cSldViewPr snapToGrid="0">
      <p:cViewPr varScale="1">
        <p:scale>
          <a:sx n="78" d="100"/>
          <a:sy n="78" d="100"/>
        </p:scale>
        <p:origin x="878" y="19"/>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17-11-2025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17-11-2025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0" y="6625240"/>
            <a:ext cx="6096000" cy="232759"/>
          </a:xfrm>
          <a:prstGeom prst="rect">
            <a:avLst/>
          </a:prstGeom>
          <a:solidFill>
            <a:srgbClr val="1971B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096000" y="6625242"/>
            <a:ext cx="5658195" cy="232757"/>
          </a:xfrm>
          <a:prstGeom prst="rect">
            <a:avLst/>
          </a:prstGeom>
          <a:solidFill>
            <a:srgbClr val="0099FF"/>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25242"/>
            <a:ext cx="437803" cy="232758"/>
          </a:xfrm>
          <a:prstGeom prst="rect">
            <a:avLst/>
          </a:prstGeom>
          <a:solidFill>
            <a:srgbClr val="1971B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 y="232759"/>
            <a:ext cx="12192000" cy="496914"/>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sz="2800" b="1" cap="none" spc="0">
                <a:ln w="0">
                  <a:noFill/>
                </a:ln>
                <a:solidFill>
                  <a:srgbClr val="114B79"/>
                </a:solidFill>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q"/>
              <a:defRPr/>
            </a:lvl1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0" y="6625241"/>
            <a:ext cx="6096000" cy="232758"/>
          </a:xfrm>
          <a:prstGeom prst="rect">
            <a:avLst/>
          </a:prstGeom>
          <a:solidFill>
            <a:srgbClr val="114B79"/>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096000" y="6625241"/>
            <a:ext cx="5658195" cy="232758"/>
          </a:xfrm>
          <a:prstGeom prst="rect">
            <a:avLst/>
          </a:prstGeom>
          <a:solidFill>
            <a:srgbClr val="2196F3"/>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D.J.Sanghvi College of Engineering</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25242"/>
            <a:ext cx="437803" cy="232757"/>
          </a:xfrm>
          <a:prstGeom prst="rect">
            <a:avLst/>
          </a:prstGeom>
          <a:solidFill>
            <a:srgbClr val="1971B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1" y="-1"/>
            <a:ext cx="12191999" cy="23275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err="1">
                <a:solidFill>
                  <a:schemeClr val="bg1"/>
                </a:solidFill>
                <a:effectLst/>
                <a:latin typeface="Times New Roman" panose="02020603050405020304" pitchFamily="18" charset="0"/>
                <a:cs typeface="Times New Roman" panose="02020603050405020304" pitchFamily="18" charset="0"/>
              </a:rPr>
              <a:t>IntelliFile</a:t>
            </a:r>
            <a:r>
              <a:rPr lang="en-US" sz="1500" b="1" i="1" dirty="0">
                <a:solidFill>
                  <a:schemeClr val="bg1"/>
                </a:solidFill>
                <a:effectLst/>
                <a:latin typeface="Times New Roman" panose="02020603050405020304" pitchFamily="18" charset="0"/>
                <a:cs typeface="Times New Roman" panose="02020603050405020304" pitchFamily="18" charset="0"/>
              </a:rPr>
              <a:t>: Intelligence in Every File.</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4" name="image1.jpeg">
            <a:extLst>
              <a:ext uri="{FF2B5EF4-FFF2-40B4-BE49-F238E27FC236}">
                <a16:creationId xmlns:a16="http://schemas.microsoft.com/office/drawing/2014/main" id="{037AD8B3-3C62-D386-8BEC-BA05A4B9996E}"/>
              </a:ext>
            </a:extLst>
          </p:cNvPr>
          <p:cNvPicPr>
            <a:picLocks noChangeAspect="1"/>
          </p:cNvPicPr>
          <p:nvPr userDrawn="1"/>
        </p:nvPicPr>
        <p:blipFill>
          <a:blip r:embed="rId2" cstate="print">
            <a:alphaModFix amt="28000"/>
          </a:blip>
          <a:stretch>
            <a:fillRect/>
          </a:stretch>
        </p:blipFill>
        <p:spPr>
          <a:xfrm>
            <a:off x="11277600" y="5875549"/>
            <a:ext cx="648217" cy="567189"/>
          </a:xfrm>
          <a:prstGeom prst="rect">
            <a:avLst/>
          </a:prstGeom>
        </p:spPr>
      </p:pic>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abstract/document/10451301" TargetMode="External"/><Relationship Id="rId7" Type="http://schemas.openxmlformats.org/officeDocument/2006/relationships/hyperlink" Target="https://arxiv.org/html/2504.17703v3" TargetMode="External"/><Relationship Id="rId2" Type="http://schemas.openxmlformats.org/officeDocument/2006/relationships/hyperlink" Target="https://ieeexplore.ieee.org/abstract/document/10522205" TargetMode="External"/><Relationship Id="rId1" Type="http://schemas.openxmlformats.org/officeDocument/2006/relationships/slideLayout" Target="../slideLayouts/slideLayout2.xml"/><Relationship Id="rId6" Type="http://schemas.openxmlformats.org/officeDocument/2006/relationships/hyperlink" Target="https://arxiv.org/html/2409.17383v1" TargetMode="External"/><Relationship Id="rId5" Type="http://schemas.openxmlformats.org/officeDocument/2006/relationships/hyperlink" Target="https://www.researchgate.net/publication/387706168_On-Device_AI_Models_Advancing_Privacy-First_Machine_Learning_for_Mobile_Applications" TargetMode="External"/><Relationship Id="rId4" Type="http://schemas.openxmlformats.org/officeDocument/2006/relationships/hyperlink" Target="https://link.springer.com/article/10.1007/s10462-009-9129-2"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F2213882-6464-4A96-96D5-EA4F95F404DE}"/>
              </a:ext>
            </a:extLst>
          </p:cNvPr>
          <p:cNvSpPr/>
          <p:nvPr/>
        </p:nvSpPr>
        <p:spPr>
          <a:xfrm>
            <a:off x="716517" y="581329"/>
            <a:ext cx="10758967" cy="857864"/>
          </a:xfrm>
          <a:prstGeom prst="roundRect">
            <a:avLst/>
          </a:prstGeom>
          <a:solidFill>
            <a:srgbClr val="00206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IntelliFile</a:t>
            </a: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Intelligence in Every File.</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10179A8E-0123-920B-589D-2B869158B8F2}"/>
              </a:ext>
            </a:extLst>
          </p:cNvPr>
          <p:cNvGrpSpPr/>
          <p:nvPr/>
        </p:nvGrpSpPr>
        <p:grpSpPr>
          <a:xfrm>
            <a:off x="1750243" y="2562406"/>
            <a:ext cx="8691513" cy="3933541"/>
            <a:chOff x="3039613" y="2688168"/>
            <a:chExt cx="6025476" cy="3933541"/>
          </a:xfrm>
        </p:grpSpPr>
        <p:sp>
          <p:nvSpPr>
            <p:cNvPr id="6" name="Subtitle 11"/>
            <p:cNvSpPr txBox="1">
              <a:spLocks/>
            </p:cNvSpPr>
            <p:nvPr/>
          </p:nvSpPr>
          <p:spPr>
            <a:xfrm>
              <a:off x="3039613" y="2688168"/>
              <a:ext cx="6025476"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300"/>
                </a:spcBef>
              </a:pPr>
              <a:r>
                <a:rPr lang="en-US" sz="1400" b="0" i="1" dirty="0"/>
                <a:t>Under the guidance of</a:t>
              </a:r>
            </a:p>
            <a:p>
              <a:pPr>
                <a:lnSpc>
                  <a:spcPct val="100000"/>
                </a:lnSpc>
                <a:spcBef>
                  <a:spcPts val="200"/>
                </a:spcBef>
              </a:pPr>
              <a:r>
                <a:rPr lang="en-IN" dirty="0"/>
                <a:t>Dr. Abhijit Joshi (IT) and Prof. Aniket Kore (COMPS)</a:t>
              </a:r>
              <a:endParaRPr lang="en-IN" sz="1400" b="0" dirty="0"/>
            </a:p>
            <a:p>
              <a:pPr>
                <a:lnSpc>
                  <a:spcPct val="100000"/>
                </a:lnSpc>
                <a:spcBef>
                  <a:spcPts val="200"/>
                </a:spcBef>
              </a:pPr>
              <a:r>
                <a:rPr lang="en-IN" sz="1400" b="0" dirty="0"/>
                <a:t>Project Guide</a:t>
              </a:r>
            </a:p>
          </p:txBody>
        </p:sp>
        <p:sp>
          <p:nvSpPr>
            <p:cNvPr id="7" name="Subtitle 11"/>
            <p:cNvSpPr txBox="1">
              <a:spLocks/>
            </p:cNvSpPr>
            <p:nvPr/>
          </p:nvSpPr>
          <p:spPr>
            <a:xfrm>
              <a:off x="3470788" y="5309768"/>
              <a:ext cx="5163127" cy="1311941"/>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2900" dirty="0"/>
                <a:t>Department of Information Technology</a:t>
              </a:r>
            </a:p>
            <a:p>
              <a:pPr>
                <a:spcBef>
                  <a:spcPts val="500"/>
                </a:spcBef>
              </a:pPr>
              <a:r>
                <a:rPr lang="en-US" sz="2900" dirty="0"/>
                <a:t>DJSCE</a:t>
              </a:r>
            </a:p>
            <a:p>
              <a:pPr>
                <a:spcBef>
                  <a:spcPts val="500"/>
                </a:spcBef>
              </a:pPr>
              <a:r>
                <a:rPr lang="en-US" sz="2900" dirty="0"/>
                <a:t>Mumbai University</a:t>
              </a:r>
            </a:p>
            <a:p>
              <a:pPr>
                <a:spcBef>
                  <a:spcPts val="1200"/>
                </a:spcBef>
              </a:pPr>
              <a:r>
                <a:rPr lang="en-US" sz="2400" dirty="0">
                  <a:solidFill>
                    <a:schemeClr val="accent1">
                      <a:lumMod val="50000"/>
                    </a:schemeClr>
                  </a:solidFill>
                </a:rPr>
                <a:t>2025-26</a:t>
              </a:r>
              <a:endParaRPr lang="en-US" sz="2400" b="0" dirty="0"/>
            </a:p>
            <a:p>
              <a:endParaRPr lang="en-IN" b="0" dirty="0"/>
            </a:p>
          </p:txBody>
        </p:sp>
        <p:pic>
          <p:nvPicPr>
            <p:cNvPr id="8" name="Picture 7">
              <a:extLst>
                <a:ext uri="{FF2B5EF4-FFF2-40B4-BE49-F238E27FC236}">
                  <a16:creationId xmlns:a16="http://schemas.microsoft.com/office/drawing/2014/main" id="{2F406308-7987-1B9E-006A-0BD51BB082AE}"/>
                </a:ext>
              </a:extLst>
            </p:cNvPr>
            <p:cNvPicPr>
              <a:picLocks noChangeAspect="1"/>
            </p:cNvPicPr>
            <p:nvPr/>
          </p:nvPicPr>
          <p:blipFill>
            <a:blip r:embed="rId2"/>
            <a:stretch>
              <a:fillRect/>
            </a:stretch>
          </p:blipFill>
          <p:spPr>
            <a:xfrm>
              <a:off x="5284541" y="3785817"/>
              <a:ext cx="1622918" cy="1420054"/>
            </a:xfrm>
            <a:prstGeom prst="rect">
              <a:avLst/>
            </a:prstGeom>
          </p:spPr>
        </p:pic>
      </p:grpSp>
      <p:sp>
        <p:nvSpPr>
          <p:cNvPr id="9" name="TextBox 8">
            <a:extLst>
              <a:ext uri="{FF2B5EF4-FFF2-40B4-BE49-F238E27FC236}">
                <a16:creationId xmlns:a16="http://schemas.microsoft.com/office/drawing/2014/main" id="{B97C818A-5CFD-E809-CAB7-FE1064F90940}"/>
              </a:ext>
            </a:extLst>
          </p:cNvPr>
          <p:cNvSpPr txBox="1"/>
          <p:nvPr/>
        </p:nvSpPr>
        <p:spPr>
          <a:xfrm>
            <a:off x="8755268" y="1699554"/>
            <a:ext cx="2764103" cy="740267"/>
          </a:xfrm>
          <a:prstGeom prst="rect">
            <a:avLst/>
          </a:prstGeom>
          <a:noFill/>
        </p:spPr>
        <p:txBody>
          <a:bodyPr wrap="square" rtlCol="0">
            <a:spAutoFit/>
          </a:bodyPr>
          <a:lstStyle/>
          <a:p>
            <a:pPr algn="ctr">
              <a:spcBef>
                <a:spcPts val="300"/>
              </a:spcBef>
            </a:pPr>
            <a:r>
              <a:rPr lang="en-US" sz="2400" b="1" dirty="0">
                <a:latin typeface="Times New Roman" panose="02020603050405020304" pitchFamily="18" charset="0"/>
                <a:cs typeface="Times New Roman" panose="02020603050405020304" pitchFamily="18" charset="0"/>
              </a:rPr>
              <a:t>Rudra Parmar</a:t>
            </a:r>
          </a:p>
          <a:p>
            <a:pPr algn="ctr">
              <a:lnSpc>
                <a:spcPct val="120000"/>
              </a:lnSpc>
              <a:spcBef>
                <a:spcPts val="300"/>
              </a:spcBef>
            </a:pPr>
            <a:r>
              <a:rPr lang="en-US" sz="1300" dirty="0">
                <a:latin typeface="Times New Roman" panose="02020603050405020304" pitchFamily="18" charset="0"/>
                <a:cs typeface="Times New Roman" panose="02020603050405020304" pitchFamily="18" charset="0"/>
              </a:rPr>
              <a:t>SAP ID - </a:t>
            </a:r>
            <a:r>
              <a:rPr lang="en-US" sz="1400" dirty="0"/>
              <a:t>60003250013</a:t>
            </a:r>
            <a:endParaRPr lang="en-US" sz="1300" dirty="0">
              <a:latin typeface="Times New Roman" panose="02020603050405020304" pitchFamily="18" charset="0"/>
              <a:cs typeface="Times New Roman" panose="02020603050405020304" pitchFamily="18" charset="0"/>
            </a:endParaRPr>
          </a:p>
        </p:txBody>
      </p:sp>
      <p:sp>
        <p:nvSpPr>
          <p:cNvPr id="10" name="Subtitle 11">
            <a:extLst>
              <a:ext uri="{FF2B5EF4-FFF2-40B4-BE49-F238E27FC236}">
                <a16:creationId xmlns:a16="http://schemas.microsoft.com/office/drawing/2014/main" id="{76632DCF-444C-4AB9-A9A9-24B78326A786}"/>
              </a:ext>
            </a:extLst>
          </p:cNvPr>
          <p:cNvSpPr txBox="1">
            <a:spLocks/>
          </p:cNvSpPr>
          <p:nvPr/>
        </p:nvSpPr>
        <p:spPr>
          <a:xfrm>
            <a:off x="1007288" y="1765710"/>
            <a:ext cx="3437274" cy="584534"/>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3100" dirty="0"/>
              <a:t>Daksh Gopani</a:t>
            </a:r>
          </a:p>
          <a:p>
            <a:pPr>
              <a:lnSpc>
                <a:spcPct val="120000"/>
              </a:lnSpc>
              <a:spcBef>
                <a:spcPts val="300"/>
              </a:spcBef>
            </a:pPr>
            <a:r>
              <a:rPr lang="en-US" sz="1700" b="0" dirty="0"/>
              <a:t>SAP ID - 60003250013</a:t>
            </a:r>
          </a:p>
        </p:txBody>
      </p:sp>
      <p:sp>
        <p:nvSpPr>
          <p:cNvPr id="11" name="Subtitle 11">
            <a:extLst>
              <a:ext uri="{FF2B5EF4-FFF2-40B4-BE49-F238E27FC236}">
                <a16:creationId xmlns:a16="http://schemas.microsoft.com/office/drawing/2014/main" id="{3541DDB9-BD7F-7259-A057-8C2F03966EAE}"/>
              </a:ext>
            </a:extLst>
          </p:cNvPr>
          <p:cNvSpPr txBox="1">
            <a:spLocks/>
          </p:cNvSpPr>
          <p:nvPr/>
        </p:nvSpPr>
        <p:spPr>
          <a:xfrm>
            <a:off x="3376568" y="1778274"/>
            <a:ext cx="4015466" cy="661548"/>
          </a:xfrm>
          <a:prstGeom prst="rect">
            <a:avLst/>
          </a:prstGeom>
        </p:spPr>
        <p:txBody>
          <a:bodyPr vert="horz" lIns="91440" tIns="45720" rIns="91440" bIns="45720" rtlCol="0">
            <a:normAutofit fontScale="3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7400" dirty="0"/>
              <a:t>Samyak</a:t>
            </a:r>
            <a:r>
              <a:rPr lang="en-US" sz="6000" dirty="0"/>
              <a:t> </a:t>
            </a:r>
            <a:r>
              <a:rPr lang="en-US" sz="7400" dirty="0"/>
              <a:t>Chheda</a:t>
            </a:r>
          </a:p>
          <a:p>
            <a:pPr>
              <a:lnSpc>
                <a:spcPct val="120000"/>
              </a:lnSpc>
              <a:spcBef>
                <a:spcPts val="300"/>
              </a:spcBef>
            </a:pPr>
            <a:r>
              <a:rPr lang="en-US" sz="3300" b="0" dirty="0"/>
              <a:t>SAP ID - </a:t>
            </a:r>
            <a:r>
              <a:rPr lang="en-US" sz="3600" b="0" dirty="0"/>
              <a:t>60003250013</a:t>
            </a:r>
            <a:endParaRPr lang="en-US" sz="3300" b="0" dirty="0"/>
          </a:p>
          <a:p>
            <a:pPr>
              <a:lnSpc>
                <a:spcPct val="120000"/>
              </a:lnSpc>
              <a:spcBef>
                <a:spcPts val="300"/>
              </a:spcBef>
            </a:pPr>
            <a:endParaRPr lang="en-US" sz="5600" b="0" dirty="0"/>
          </a:p>
        </p:txBody>
      </p:sp>
      <p:sp>
        <p:nvSpPr>
          <p:cNvPr id="14" name="Subtitle 11">
            <a:extLst>
              <a:ext uri="{FF2B5EF4-FFF2-40B4-BE49-F238E27FC236}">
                <a16:creationId xmlns:a16="http://schemas.microsoft.com/office/drawing/2014/main" id="{F3C3CADE-4DE0-4FED-8446-912E92DB0292}"/>
              </a:ext>
            </a:extLst>
          </p:cNvPr>
          <p:cNvSpPr txBox="1">
            <a:spLocks/>
          </p:cNvSpPr>
          <p:nvPr/>
        </p:nvSpPr>
        <p:spPr>
          <a:xfrm>
            <a:off x="6028800" y="1791307"/>
            <a:ext cx="3437274" cy="584534"/>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3100" dirty="0"/>
              <a:t>Rishi </a:t>
            </a:r>
            <a:r>
              <a:rPr lang="en-US" sz="3100" dirty="0" err="1"/>
              <a:t>Vejani</a:t>
            </a:r>
            <a:endParaRPr lang="en-US" sz="3100" dirty="0"/>
          </a:p>
          <a:p>
            <a:pPr>
              <a:lnSpc>
                <a:spcPct val="120000"/>
              </a:lnSpc>
              <a:spcBef>
                <a:spcPts val="300"/>
              </a:spcBef>
            </a:pPr>
            <a:r>
              <a:rPr lang="en-US" sz="1700" b="0" dirty="0"/>
              <a:t>SAP ID - 60003250013</a:t>
            </a:r>
          </a:p>
        </p:txBody>
      </p:sp>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Overview</a:t>
            </a:r>
            <a:endParaRPr lang="en-IN" dirty="0"/>
          </a:p>
        </p:txBody>
      </p:sp>
      <p:sp>
        <p:nvSpPr>
          <p:cNvPr id="3" name="Content Placeholder 2"/>
          <p:cNvSpPr>
            <a:spLocks noGrp="1"/>
          </p:cNvSpPr>
          <p:nvPr>
            <p:ph idx="1"/>
          </p:nvPr>
        </p:nvSpPr>
        <p:spPr>
          <a:xfrm>
            <a:off x="199505" y="1097279"/>
            <a:ext cx="11779135" cy="7122161"/>
          </a:xfrm>
        </p:spPr>
        <p:txBody>
          <a:bodyPr>
            <a:normAutofit/>
          </a:bodyPr>
          <a:lstStyle/>
          <a:p>
            <a:r>
              <a:rPr lang="en-US" sz="2400" dirty="0"/>
              <a:t>Introduction</a:t>
            </a:r>
          </a:p>
          <a:p>
            <a:r>
              <a:rPr lang="en-US" sz="2400" dirty="0"/>
              <a:t>Literature Survey</a:t>
            </a:r>
          </a:p>
          <a:p>
            <a:r>
              <a:rPr lang="en-US" sz="2400" dirty="0"/>
              <a:t>Problem statement</a:t>
            </a:r>
          </a:p>
          <a:p>
            <a:r>
              <a:rPr lang="en-US" sz="2400" dirty="0"/>
              <a:t>Conclusion</a:t>
            </a:r>
          </a:p>
          <a:p>
            <a:r>
              <a:rPr lang="en-US" sz="2400" dirty="0"/>
              <a:t>References</a:t>
            </a:r>
          </a:p>
        </p:txBody>
      </p:sp>
    </p:spTree>
    <p:extLst>
      <p:ext uri="{BB962C8B-B14F-4D97-AF65-F5344CB8AC3E}">
        <p14:creationId xmlns:p14="http://schemas.microsoft.com/office/powerpoint/2010/main" val="175112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Problem Statement</a:t>
            </a:r>
            <a:endParaRPr lang="en-IN" dirty="0"/>
          </a:p>
        </p:txBody>
      </p:sp>
      <p:sp>
        <p:nvSpPr>
          <p:cNvPr id="5" name="Content Placeholder 4">
            <a:extLst>
              <a:ext uri="{FF2B5EF4-FFF2-40B4-BE49-F238E27FC236}">
                <a16:creationId xmlns:a16="http://schemas.microsoft.com/office/drawing/2014/main" id="{00918F4F-C5DB-9B63-5542-733D0989E8E7}"/>
              </a:ext>
            </a:extLst>
          </p:cNvPr>
          <p:cNvSpPr>
            <a:spLocks noGrp="1"/>
          </p:cNvSpPr>
          <p:nvPr>
            <p:ph idx="1"/>
          </p:nvPr>
        </p:nvSpPr>
        <p:spPr/>
        <p:txBody>
          <a:bodyPr>
            <a:normAutofit/>
          </a:bodyPr>
          <a:lstStyle/>
          <a:p>
            <a:pPr marL="0" indent="0">
              <a:buNone/>
            </a:pPr>
            <a:r>
              <a:rPr lang="en-US" b="1" dirty="0"/>
              <a:t>Modern File Management is Broken</a:t>
            </a:r>
            <a:r>
              <a:rPr lang="en-US" dirty="0"/>
              <a:t> : </a:t>
            </a:r>
            <a:r>
              <a:rPr lang="en-US" sz="2400" dirty="0"/>
              <a:t>In today's digital world, file organization on devices wastes time, creates chaos, and risks privacy:</a:t>
            </a:r>
          </a:p>
          <a:p>
            <a:r>
              <a:rPr lang="en-US" sz="2400" b="1" dirty="0"/>
              <a:t>Frustrating Searches</a:t>
            </a:r>
            <a:r>
              <a:rPr lang="en-US" sz="2400" dirty="0"/>
              <a:t>: </a:t>
            </a:r>
            <a:r>
              <a:rPr lang="en-US" sz="2400" u="sng" dirty="0"/>
              <a:t>Minutes lost</a:t>
            </a:r>
            <a:r>
              <a:rPr lang="en-US" sz="2400" dirty="0"/>
              <a:t> hunting for files by vague names or buried folders.</a:t>
            </a:r>
          </a:p>
          <a:p>
            <a:r>
              <a:rPr lang="en-US" sz="2400" b="1" dirty="0"/>
              <a:t>Tedious Organization</a:t>
            </a:r>
            <a:r>
              <a:rPr lang="en-US" sz="2400" dirty="0"/>
              <a:t>: Manual sorting leads to </a:t>
            </a:r>
            <a:r>
              <a:rPr lang="en-US" sz="2400" u="sng" dirty="0"/>
              <a:t>lost, untagged files</a:t>
            </a:r>
            <a:r>
              <a:rPr lang="en-US" sz="2400" dirty="0"/>
              <a:t>.</a:t>
            </a:r>
          </a:p>
          <a:p>
            <a:r>
              <a:rPr lang="en-US" sz="2400" b="1" dirty="0"/>
              <a:t>Versioning Nightmares</a:t>
            </a:r>
            <a:r>
              <a:rPr lang="en-US" sz="2400" dirty="0"/>
              <a:t>: Accidental overwrites, messy merges, and no edit tracking leave us </a:t>
            </a:r>
            <a:r>
              <a:rPr lang="en-US" sz="2400" u="sng" dirty="0"/>
              <a:t>stressed and confused</a:t>
            </a:r>
            <a:r>
              <a:rPr lang="en-US" sz="2400" dirty="0"/>
              <a:t>.</a:t>
            </a:r>
          </a:p>
          <a:p>
            <a:r>
              <a:rPr lang="en-US" sz="2400" b="1" dirty="0"/>
              <a:t>Privacy Gaps</a:t>
            </a:r>
            <a:r>
              <a:rPr lang="en-US" sz="2400" dirty="0"/>
              <a:t>: Smart features often require cloud exposure, compromising </a:t>
            </a:r>
            <a:r>
              <a:rPr lang="en-US" sz="2400" u="sng" dirty="0"/>
              <a:t>sensitive data</a:t>
            </a:r>
            <a:r>
              <a:rPr lang="en-US" sz="2400" dirty="0"/>
              <a:t>.</a:t>
            </a:r>
          </a:p>
          <a:p>
            <a:r>
              <a:rPr lang="en-US" sz="2400" b="1" dirty="0"/>
              <a:t>No Intelligent Help</a:t>
            </a:r>
            <a:r>
              <a:rPr lang="en-US" sz="2400" dirty="0"/>
              <a:t>: No </a:t>
            </a:r>
            <a:r>
              <a:rPr lang="en-US" sz="2400" u="sng" dirty="0"/>
              <a:t>conversational AI</a:t>
            </a:r>
            <a:r>
              <a:rPr lang="en-US" sz="2400" dirty="0"/>
              <a:t> to assist with files on-device.</a:t>
            </a:r>
          </a:p>
          <a:p>
            <a:r>
              <a:rPr lang="en-US" sz="2400" b="1" dirty="0"/>
              <a:t>Hidden Insights Lost:</a:t>
            </a:r>
            <a:r>
              <a:rPr lang="en-US" sz="2400" dirty="0"/>
              <a:t> Valuable information in files - like key dates, receipts, or project summaries - remains </a:t>
            </a:r>
            <a:r>
              <a:rPr lang="en-US" sz="2400" u="sng" dirty="0"/>
              <a:t>buried and unused</a:t>
            </a:r>
            <a:r>
              <a:rPr lang="en-US" sz="2400" dirty="0"/>
              <a:t>.</a:t>
            </a:r>
          </a:p>
          <a:p>
            <a:pPr marL="0" indent="0">
              <a:buNone/>
            </a:pPr>
            <a:r>
              <a:rPr lang="en-US" b="1" dirty="0"/>
              <a:t>Result</a:t>
            </a:r>
            <a:r>
              <a:rPr lang="en-US" dirty="0"/>
              <a:t>: </a:t>
            </a:r>
            <a:r>
              <a:rPr lang="en-US" sz="2400" dirty="0"/>
              <a:t>Productivity breaks, frustration builds, and your files control </a:t>
            </a:r>
            <a:r>
              <a:rPr lang="en-US" sz="2400" i="1" dirty="0"/>
              <a:t>you - </a:t>
            </a:r>
            <a:r>
              <a:rPr lang="en-US" sz="2400" dirty="0"/>
              <a:t>not the other way around.</a:t>
            </a:r>
          </a:p>
          <a:p>
            <a:endParaRPr lang="en-IN" dirty="0"/>
          </a:p>
        </p:txBody>
      </p:sp>
    </p:spTree>
    <p:extLst>
      <p:ext uri="{BB962C8B-B14F-4D97-AF65-F5344CB8AC3E}">
        <p14:creationId xmlns:p14="http://schemas.microsoft.com/office/powerpoint/2010/main" val="63189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F2107-12F6-9DEF-3C56-2BC26D07C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70105-82AB-75AC-0B7D-7E88CB1524C2}"/>
              </a:ext>
            </a:extLst>
          </p:cNvPr>
          <p:cNvSpPr>
            <a:spLocks noGrp="1"/>
          </p:cNvSpPr>
          <p:nvPr>
            <p:ph type="title"/>
          </p:nvPr>
        </p:nvSpPr>
        <p:spPr/>
        <p:txBody>
          <a:bodyPr/>
          <a:lstStyle/>
          <a:p>
            <a:r>
              <a:rPr lang="en-US" dirty="0"/>
              <a:t>   Solution</a:t>
            </a:r>
            <a:endParaRPr lang="en-IN" dirty="0"/>
          </a:p>
        </p:txBody>
      </p:sp>
      <p:sp>
        <p:nvSpPr>
          <p:cNvPr id="5" name="Content Placeholder 4">
            <a:extLst>
              <a:ext uri="{FF2B5EF4-FFF2-40B4-BE49-F238E27FC236}">
                <a16:creationId xmlns:a16="http://schemas.microsoft.com/office/drawing/2014/main" id="{9BF7EE7C-6C24-6A2E-37B8-50BF9E387FC9}"/>
              </a:ext>
            </a:extLst>
          </p:cNvPr>
          <p:cNvSpPr>
            <a:spLocks noGrp="1"/>
          </p:cNvSpPr>
          <p:nvPr>
            <p:ph idx="1"/>
          </p:nvPr>
        </p:nvSpPr>
        <p:spPr>
          <a:xfrm>
            <a:off x="199505" y="816077"/>
            <a:ext cx="11779135" cy="5809164"/>
          </a:xfrm>
        </p:spPr>
        <p:txBody>
          <a:bodyPr>
            <a:normAutofit lnSpcReduction="10000"/>
          </a:bodyPr>
          <a:lstStyle/>
          <a:p>
            <a:pPr marL="0" indent="0" algn="ctr">
              <a:buNone/>
            </a:pPr>
            <a:r>
              <a:rPr lang="en-US" sz="3200" b="1" dirty="0" err="1"/>
              <a:t>IntelliFile</a:t>
            </a:r>
            <a:r>
              <a:rPr lang="en-US" sz="3200" b="1" dirty="0"/>
              <a:t>: </a:t>
            </a:r>
            <a:r>
              <a:rPr lang="en-IN" sz="3200" b="1" i="1" dirty="0"/>
              <a:t>Intelligence in Every File.</a:t>
            </a:r>
            <a:endParaRPr lang="en-US" sz="3200" b="1" i="1" dirty="0"/>
          </a:p>
          <a:p>
            <a:pPr marL="0" indent="0">
              <a:buNone/>
            </a:pPr>
            <a:r>
              <a:rPr lang="en-US" sz="2400" dirty="0" err="1"/>
              <a:t>IntelliFile</a:t>
            </a:r>
            <a:r>
              <a:rPr lang="en-US" sz="2400" dirty="0"/>
              <a:t> swaps out your old file app for one powered by AI that runs right on your phone or computer. It makes handling files quick, neat, and safe - all without sending data anywhere:</a:t>
            </a:r>
          </a:p>
          <a:p>
            <a:r>
              <a:rPr lang="en-US" sz="2400" b="1" dirty="0"/>
              <a:t>Smart Searches</a:t>
            </a:r>
            <a:r>
              <a:rPr lang="en-US" sz="2400" dirty="0"/>
              <a:t>: Type or say what you’re looking for, and it </a:t>
            </a:r>
            <a:r>
              <a:rPr lang="en-US" sz="2400" u="sng" dirty="0"/>
              <a:t>understands the intent </a:t>
            </a:r>
            <a:r>
              <a:rPr lang="en-US" sz="2400" dirty="0"/>
              <a:t>- not just the file name. </a:t>
            </a:r>
            <a:r>
              <a:rPr lang="en-US" sz="2400" b="1" dirty="0"/>
              <a:t>Example:</a:t>
            </a:r>
            <a:r>
              <a:rPr lang="en-US" sz="2400" dirty="0"/>
              <a:t> </a:t>
            </a:r>
            <a:r>
              <a:rPr lang="en-US" sz="2400" i="1" dirty="0"/>
              <a:t>“Latest contract with John from January”</a:t>
            </a:r>
            <a:r>
              <a:rPr lang="en-US" sz="2400" dirty="0"/>
              <a:t> → finds </a:t>
            </a:r>
            <a:r>
              <a:rPr lang="en-US" sz="2400" i="1" dirty="0"/>
              <a:t>“final_v18.pdf”</a:t>
            </a:r>
            <a:endParaRPr lang="en-US" sz="2400" dirty="0"/>
          </a:p>
          <a:p>
            <a:r>
              <a:rPr lang="en-US" sz="2400" b="1" dirty="0"/>
              <a:t>Auto Sorting</a:t>
            </a:r>
            <a:r>
              <a:rPr lang="en-US" sz="2400" dirty="0"/>
              <a:t>: New file? It </a:t>
            </a:r>
            <a:r>
              <a:rPr lang="en-US" sz="2400" u="sng" dirty="0"/>
              <a:t>puts it in the right folder</a:t>
            </a:r>
            <a:r>
              <a:rPr lang="en-US" sz="2400" dirty="0"/>
              <a:t> and </a:t>
            </a:r>
            <a:r>
              <a:rPr lang="en-US" sz="2400" u="sng" dirty="0"/>
              <a:t>adds tags</a:t>
            </a:r>
            <a:r>
              <a:rPr lang="en-US" sz="2400" dirty="0"/>
              <a:t> on its own.</a:t>
            </a:r>
          </a:p>
          <a:p>
            <a:r>
              <a:rPr lang="en-US" sz="2400" b="1" dirty="0"/>
              <a:t>Easy Updates</a:t>
            </a:r>
            <a:r>
              <a:rPr lang="en-US" sz="2400" dirty="0"/>
              <a:t>: Tracks changes, </a:t>
            </a:r>
            <a:r>
              <a:rPr lang="en-US" sz="2400" u="sng" dirty="0"/>
              <a:t>saves old copies</a:t>
            </a:r>
            <a:r>
              <a:rPr lang="en-US" sz="2400" dirty="0"/>
              <a:t>, and mixes edits without mix-ups.</a:t>
            </a:r>
          </a:p>
          <a:p>
            <a:r>
              <a:rPr lang="en-US" sz="2400" b="1" dirty="0"/>
              <a:t>Total Safety</a:t>
            </a:r>
            <a:r>
              <a:rPr lang="en-US" sz="2400" dirty="0"/>
              <a:t>: All AI stays on your device - </a:t>
            </a:r>
            <a:r>
              <a:rPr lang="en-US" sz="2400" u="sng" dirty="0"/>
              <a:t>your info never leaves</a:t>
            </a:r>
            <a:r>
              <a:rPr lang="en-US" sz="2400" dirty="0"/>
              <a:t>.</a:t>
            </a:r>
          </a:p>
          <a:p>
            <a:r>
              <a:rPr lang="en-US" sz="2400" b="1" dirty="0"/>
              <a:t>Chat Buddy</a:t>
            </a:r>
            <a:r>
              <a:rPr lang="en-US" sz="2400" dirty="0"/>
              <a:t>: Ask "what's in my photo folder?" and get a </a:t>
            </a:r>
            <a:r>
              <a:rPr lang="en-US" sz="2400" u="sng" dirty="0"/>
              <a:t>fast answer or summary</a:t>
            </a:r>
            <a:r>
              <a:rPr lang="en-US" sz="2400" dirty="0"/>
              <a:t>.</a:t>
            </a:r>
          </a:p>
          <a:p>
            <a:r>
              <a:rPr lang="en-US" sz="2400" b="1" dirty="0"/>
              <a:t>Smart Reminders</a:t>
            </a:r>
            <a:r>
              <a:rPr lang="en-US" sz="2400" dirty="0"/>
              <a:t>: AI suggests you about </a:t>
            </a:r>
            <a:r>
              <a:rPr lang="en-US" sz="2400" u="sng" dirty="0"/>
              <a:t>important files</a:t>
            </a:r>
            <a:r>
              <a:rPr lang="en-US" sz="2400" dirty="0"/>
              <a:t> - like deadlines, unpaid invoices, or follow-ups.</a:t>
            </a:r>
          </a:p>
          <a:p>
            <a:r>
              <a:rPr lang="en-IN" sz="2400" b="1" dirty="0"/>
              <a:t>Cross-Device Smart Link &amp; Offline Access: </a:t>
            </a:r>
            <a:r>
              <a:rPr lang="en-IN" sz="2400" dirty="0"/>
              <a:t>Link your phone with our desktop app and access your desktop files </a:t>
            </a:r>
            <a:r>
              <a:rPr lang="en-IN" sz="2400" u="sng" dirty="0"/>
              <a:t>anywhere and anytime</a:t>
            </a:r>
            <a:r>
              <a:rPr lang="en-IN" sz="2400" dirty="0"/>
              <a:t>.</a:t>
            </a:r>
            <a:endParaRPr lang="en-US" sz="2400" dirty="0"/>
          </a:p>
          <a:p>
            <a:pPr marL="0" indent="0">
              <a:buNone/>
            </a:pPr>
            <a:r>
              <a:rPr lang="en-US" sz="2400" b="1" dirty="0"/>
              <a:t>Result</a:t>
            </a:r>
            <a:r>
              <a:rPr lang="en-US" sz="2400" dirty="0"/>
              <a:t>: Files stay organized, you save tons of time, and you stay in control. Work feels easy and worry-free!</a:t>
            </a:r>
          </a:p>
        </p:txBody>
      </p:sp>
    </p:spTree>
    <p:extLst>
      <p:ext uri="{BB962C8B-B14F-4D97-AF65-F5344CB8AC3E}">
        <p14:creationId xmlns:p14="http://schemas.microsoft.com/office/powerpoint/2010/main" val="1747678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D5E04-692E-6DFB-7C8C-5F6580188A01}"/>
              </a:ext>
            </a:extLst>
          </p:cNvPr>
          <p:cNvSpPr>
            <a:spLocks noGrp="1"/>
          </p:cNvSpPr>
          <p:nvPr>
            <p:ph type="title"/>
          </p:nvPr>
        </p:nvSpPr>
        <p:spPr/>
        <p:txBody>
          <a:bodyPr/>
          <a:lstStyle/>
          <a:p>
            <a:r>
              <a:rPr lang="en-IN" dirty="0"/>
              <a:t>Existing System with their gaps/drawback</a:t>
            </a:r>
          </a:p>
        </p:txBody>
      </p:sp>
      <p:graphicFrame>
        <p:nvGraphicFramePr>
          <p:cNvPr id="5" name="Table 5">
            <a:extLst>
              <a:ext uri="{FF2B5EF4-FFF2-40B4-BE49-F238E27FC236}">
                <a16:creationId xmlns:a16="http://schemas.microsoft.com/office/drawing/2014/main" id="{5D3BDB0B-D9F6-71BD-73B1-F8FDFF83677F}"/>
              </a:ext>
            </a:extLst>
          </p:cNvPr>
          <p:cNvGraphicFramePr>
            <a:graphicFrameLocks noGrp="1"/>
          </p:cNvGraphicFramePr>
          <p:nvPr>
            <p:extLst>
              <p:ext uri="{D42A27DB-BD31-4B8C-83A1-F6EECF244321}">
                <p14:modId xmlns:p14="http://schemas.microsoft.com/office/powerpoint/2010/main" val="666989594"/>
              </p:ext>
            </p:extLst>
          </p:nvPr>
        </p:nvGraphicFramePr>
        <p:xfrm>
          <a:off x="1328818" y="999448"/>
          <a:ext cx="9534360" cy="5321142"/>
        </p:xfrm>
        <a:graphic>
          <a:graphicData uri="http://schemas.openxmlformats.org/drawingml/2006/table">
            <a:tbl>
              <a:tblPr firstRow="1" bandRow="1">
                <a:tableStyleId>{5C22544A-7EE6-4342-B048-85BDC9FD1C3A}</a:tableStyleId>
              </a:tblPr>
              <a:tblGrid>
                <a:gridCol w="4767180">
                  <a:extLst>
                    <a:ext uri="{9D8B030D-6E8A-4147-A177-3AD203B41FA5}">
                      <a16:colId xmlns:a16="http://schemas.microsoft.com/office/drawing/2014/main" val="3490811699"/>
                    </a:ext>
                  </a:extLst>
                </a:gridCol>
                <a:gridCol w="4767180">
                  <a:extLst>
                    <a:ext uri="{9D8B030D-6E8A-4147-A177-3AD203B41FA5}">
                      <a16:colId xmlns:a16="http://schemas.microsoft.com/office/drawing/2014/main" val="2952084194"/>
                    </a:ext>
                  </a:extLst>
                </a:gridCol>
              </a:tblGrid>
              <a:tr h="0">
                <a:tc>
                  <a:txBody>
                    <a:bodyPr/>
                    <a:lstStyle/>
                    <a:p>
                      <a:pPr algn="ctr"/>
                      <a:r>
                        <a:rPr lang="en-IN" sz="2000" dirty="0">
                          <a:latin typeface="Times New Roman" panose="02020603050405020304" pitchFamily="18" charset="0"/>
                          <a:cs typeface="Times New Roman" panose="02020603050405020304" pitchFamily="18" charset="0"/>
                        </a:rPr>
                        <a:t>Existing System</a:t>
                      </a:r>
                    </a:p>
                  </a:txBody>
                  <a:tcPr/>
                </a:tc>
                <a:tc>
                  <a:txBody>
                    <a:bodyPr/>
                    <a:lstStyle/>
                    <a:p>
                      <a:pPr algn="ctr"/>
                      <a:r>
                        <a:rPr lang="en-IN" sz="2000" dirty="0">
                          <a:latin typeface="Times New Roman" panose="02020603050405020304" pitchFamily="18" charset="0"/>
                          <a:cs typeface="Times New Roman" panose="02020603050405020304" pitchFamily="18" charset="0"/>
                        </a:rPr>
                        <a:t>Major Drawbacks</a:t>
                      </a:r>
                    </a:p>
                  </a:txBody>
                  <a:tcPr/>
                </a:tc>
                <a:extLst>
                  <a:ext uri="{0D108BD9-81ED-4DB2-BD59-A6C34878D82A}">
                    <a16:rowId xmlns:a16="http://schemas.microsoft.com/office/drawing/2014/main" val="3357991263"/>
                  </a:ext>
                </a:extLst>
              </a:tr>
              <a:tr h="1641634">
                <a:tc>
                  <a:txBody>
                    <a:bodyPr/>
                    <a:lstStyle/>
                    <a:p>
                      <a:pPr algn="ctr" fontAlgn="base" latinLnBrk="0"/>
                      <a:r>
                        <a:rPr lang="en-IN" sz="1600" b="1" dirty="0">
                          <a:effectLst/>
                          <a:latin typeface="Times New Roman" panose="02020603050405020304" pitchFamily="18" charset="0"/>
                          <a:cs typeface="Times New Roman" panose="02020603050405020304" pitchFamily="18" charset="0"/>
                        </a:rPr>
                        <a:t>Windows/Mac File Explorer</a:t>
                      </a:r>
                    </a:p>
                  </a:txBody>
                  <a:tcPr marL="60960" marR="60960" anchor="ctr"/>
                </a:tc>
                <a:tc>
                  <a:txBody>
                    <a:bodyPr/>
                    <a:lstStyle/>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No AI/semantic search: Only finds files by name/date.</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Manual folder management.</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No cross-device sync.</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No collaboration or smart versioning.</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Lacks automation and smart organization.</a:t>
                      </a:r>
                      <a:endParaRPr lang="en-IN" sz="1600" dirty="0">
                        <a:effectLst/>
                        <a:latin typeface="Times New Roman" panose="02020603050405020304" pitchFamily="18" charset="0"/>
                        <a:cs typeface="Times New Roman" panose="02020603050405020304" pitchFamily="18" charset="0"/>
                      </a:endParaRPr>
                    </a:p>
                  </a:txBody>
                  <a:tcPr marL="60960" marR="60960" anchor="ctr"/>
                </a:tc>
                <a:extLst>
                  <a:ext uri="{0D108BD9-81ED-4DB2-BD59-A6C34878D82A}">
                    <a16:rowId xmlns:a16="http://schemas.microsoft.com/office/drawing/2014/main" val="4195928786"/>
                  </a:ext>
                </a:extLst>
              </a:tr>
              <a:tr h="1899145">
                <a:tc>
                  <a:txBody>
                    <a:bodyPr/>
                    <a:lstStyle/>
                    <a:p>
                      <a:pPr algn="ctr" fontAlgn="base" latinLnBrk="0"/>
                      <a:r>
                        <a:rPr lang="en-IN" sz="1600" b="1" dirty="0">
                          <a:effectLst/>
                          <a:latin typeface="Times New Roman" panose="02020603050405020304" pitchFamily="18" charset="0"/>
                          <a:cs typeface="Times New Roman" panose="02020603050405020304" pitchFamily="18" charset="0"/>
                        </a:rPr>
                        <a:t>Google Drive/OneDrive/Dropbox</a:t>
                      </a:r>
                    </a:p>
                  </a:txBody>
                  <a:tcPr marL="60960" marR="60960" anchor="ctr"/>
                </a:tc>
                <a:tc>
                  <a:txBody>
                    <a:bodyPr/>
                    <a:lstStyle/>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Privacy concerns: Provider can view/analyze your files.</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All-or-nothing sync; hard to selectively sync.</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Limited offline access.</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Basic keyword search, no semantic/AI search.</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Collaboration/merge is manual and confusing.</a:t>
                      </a:r>
                    </a:p>
                    <a:p>
                      <a:pPr marL="285750" indent="-285750" fontAlgn="base" latinLnBrk="0">
                        <a:buFont typeface="Arial" panose="020B0604020202020204" pitchFamily="34" charset="0"/>
                        <a:buChar char="•"/>
                      </a:pPr>
                      <a:r>
                        <a:rPr lang="en-US" sz="1600" dirty="0">
                          <a:effectLst/>
                          <a:latin typeface="Times New Roman" panose="02020603050405020304" pitchFamily="18" charset="0"/>
                          <a:cs typeface="Times New Roman" panose="02020603050405020304" pitchFamily="18" charset="0"/>
                        </a:rPr>
                        <a:t>Internet dependent for best features.</a:t>
                      </a:r>
                      <a:endParaRPr lang="en-IN" sz="1600" dirty="0">
                        <a:effectLst/>
                        <a:latin typeface="Times New Roman" panose="02020603050405020304" pitchFamily="18" charset="0"/>
                        <a:cs typeface="Times New Roman" panose="02020603050405020304" pitchFamily="18" charset="0"/>
                      </a:endParaRPr>
                    </a:p>
                  </a:txBody>
                  <a:tcPr marL="60960" marR="60960" anchor="ctr"/>
                </a:tc>
                <a:extLst>
                  <a:ext uri="{0D108BD9-81ED-4DB2-BD59-A6C34878D82A}">
                    <a16:rowId xmlns:a16="http://schemas.microsoft.com/office/drawing/2014/main" val="3890561734"/>
                  </a:ext>
                </a:extLst>
              </a:tr>
              <a:tr h="1384123">
                <a:tc>
                  <a:txBody>
                    <a:bodyPr/>
                    <a:lstStyle/>
                    <a:p>
                      <a:pPr algn="ctr" fontAlgn="base" latinLnBrk="0"/>
                      <a:r>
                        <a:rPr lang="en-IN" sz="1600" b="1" dirty="0">
                          <a:effectLst/>
                          <a:latin typeface="Times New Roman" panose="02020603050405020304" pitchFamily="18" charset="0"/>
                          <a:cs typeface="Times New Roman" panose="02020603050405020304" pitchFamily="18" charset="0"/>
                        </a:rPr>
                        <a:t>Mobile File Managers</a:t>
                      </a:r>
                    </a:p>
                  </a:txBody>
                  <a:tcPr marL="60960" marR="60960" anchor="ctr"/>
                </a:tc>
                <a:tc>
                  <a:txBody>
                    <a:bodyPr/>
                    <a:lstStyle/>
                    <a:p>
                      <a:pPr marL="285750" indent="-285750" fontAlgn="base" latinLnBrk="0">
                        <a:buFont typeface="Arial" panose="020B0604020202020204" pitchFamily="34" charset="0"/>
                        <a:buChar cha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Weak search: No smart or semantic results.</a:t>
                      </a:r>
                    </a:p>
                    <a:p>
                      <a:pPr marL="285750" indent="-285750" fontAlgn="base" latinLnBrk="0">
                        <a:buFont typeface="Arial" panose="020B0604020202020204" pitchFamily="34" charset="0"/>
                        <a:buChar char="•"/>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Poor organizational automation.</a:t>
                      </a:r>
                    </a:p>
                    <a:p>
                      <a:pPr marL="285750" indent="-285750" fontAlgn="base" latinLnBrk="0">
                        <a:buFont typeface="Arial" panose="020B0604020202020204" pitchFamily="34" charset="0"/>
                        <a:buChar char="•"/>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No real collaboration/version control.</a:t>
                      </a:r>
                    </a:p>
                    <a:p>
                      <a:pPr marL="285750" indent="-285750" fontAlgn="base" latinLnBrk="0">
                        <a:buFont typeface="Arial" panose="020B0604020202020204" pitchFamily="34" charset="0"/>
                        <a:buChar cha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Sync and privacy controls are usually missing.</a:t>
                      </a:r>
                    </a:p>
                    <a:p>
                      <a:pPr marL="285750" indent="-285750" fontAlgn="base" latinLnBrk="0">
                        <a:buFont typeface="Arial" panose="020B0604020202020204" pitchFamily="34" charset="0"/>
                        <a:buChar cha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Limited AI or chat assistance.</a:t>
                      </a:r>
                      <a:endParaRPr lang="en-IN" sz="1600" dirty="0">
                        <a:effectLst/>
                        <a:latin typeface="Times New Roman" panose="02020603050405020304" pitchFamily="18" charset="0"/>
                        <a:cs typeface="Times New Roman" panose="02020603050405020304" pitchFamily="18" charset="0"/>
                      </a:endParaRPr>
                    </a:p>
                  </a:txBody>
                  <a:tcPr marL="60960" marR="60960" anchor="ctr"/>
                </a:tc>
                <a:extLst>
                  <a:ext uri="{0D108BD9-81ED-4DB2-BD59-A6C34878D82A}">
                    <a16:rowId xmlns:a16="http://schemas.microsoft.com/office/drawing/2014/main" val="363379053"/>
                  </a:ext>
                </a:extLst>
              </a:tr>
            </a:tbl>
          </a:graphicData>
        </a:graphic>
      </p:graphicFrame>
    </p:spTree>
    <p:extLst>
      <p:ext uri="{BB962C8B-B14F-4D97-AF65-F5344CB8AC3E}">
        <p14:creationId xmlns:p14="http://schemas.microsoft.com/office/powerpoint/2010/main" val="3979452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Literature Review</a:t>
            </a:r>
            <a:endParaRPr lang="en-IN" dirty="0"/>
          </a:p>
        </p:txBody>
      </p:sp>
      <p:graphicFrame>
        <p:nvGraphicFramePr>
          <p:cNvPr id="4" name="Table 5">
            <a:extLst>
              <a:ext uri="{FF2B5EF4-FFF2-40B4-BE49-F238E27FC236}">
                <a16:creationId xmlns:a16="http://schemas.microsoft.com/office/drawing/2014/main" id="{C2559C81-DB82-317B-C82E-8E4B5211B100}"/>
              </a:ext>
            </a:extLst>
          </p:cNvPr>
          <p:cNvGraphicFramePr>
            <a:graphicFrameLocks noGrp="1"/>
          </p:cNvGraphicFramePr>
          <p:nvPr>
            <p:extLst>
              <p:ext uri="{D42A27DB-BD31-4B8C-83A1-F6EECF244321}">
                <p14:modId xmlns:p14="http://schemas.microsoft.com/office/powerpoint/2010/main" val="3813137091"/>
              </p:ext>
            </p:extLst>
          </p:nvPr>
        </p:nvGraphicFramePr>
        <p:xfrm>
          <a:off x="169683" y="911042"/>
          <a:ext cx="11736372" cy="5304112"/>
        </p:xfrm>
        <a:graphic>
          <a:graphicData uri="http://schemas.openxmlformats.org/drawingml/2006/table">
            <a:tbl>
              <a:tblPr firstRow="1" bandRow="1">
                <a:tableStyleId>{5C22544A-7EE6-4342-B048-85BDC9FD1C3A}</a:tableStyleId>
              </a:tblPr>
              <a:tblGrid>
                <a:gridCol w="3907826">
                  <a:extLst>
                    <a:ext uri="{9D8B030D-6E8A-4147-A177-3AD203B41FA5}">
                      <a16:colId xmlns:a16="http://schemas.microsoft.com/office/drawing/2014/main" val="1044245970"/>
                    </a:ext>
                  </a:extLst>
                </a:gridCol>
                <a:gridCol w="2221272">
                  <a:extLst>
                    <a:ext uri="{9D8B030D-6E8A-4147-A177-3AD203B41FA5}">
                      <a16:colId xmlns:a16="http://schemas.microsoft.com/office/drawing/2014/main" val="4207142538"/>
                    </a:ext>
                  </a:extLst>
                </a:gridCol>
                <a:gridCol w="5607274">
                  <a:extLst>
                    <a:ext uri="{9D8B030D-6E8A-4147-A177-3AD203B41FA5}">
                      <a16:colId xmlns:a16="http://schemas.microsoft.com/office/drawing/2014/main" val="1551637435"/>
                    </a:ext>
                  </a:extLst>
                </a:gridCol>
              </a:tblGrid>
              <a:tr h="370080">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  </a:t>
                      </a:r>
                      <a:r>
                        <a:rPr lang="en-IN" sz="2000" dirty="0">
                          <a:solidFill>
                            <a:srgbClr val="F7F7F7"/>
                          </a:solidFill>
                          <a:latin typeface="Times New Roman" panose="02020603050405020304" pitchFamily="18" charset="0"/>
                          <a:cs typeface="Times New Roman" panose="02020603050405020304" pitchFamily="18" charset="0"/>
                        </a:rPr>
                        <a:t>Title</a:t>
                      </a:r>
                    </a:p>
                  </a:txBody>
                  <a:tcPr/>
                </a:tc>
                <a:tc>
                  <a:txBody>
                    <a:bodyPr/>
                    <a:lstStyle/>
                    <a:p>
                      <a:pPr algn="ctr"/>
                      <a:r>
                        <a:rPr lang="en-IN" sz="2000" dirty="0">
                          <a:solidFill>
                            <a:srgbClr val="F7F7F7"/>
                          </a:solidFill>
                          <a:latin typeface="Times New Roman" panose="02020603050405020304" pitchFamily="18" charset="0"/>
                          <a:cs typeface="Times New Roman" panose="02020603050405020304" pitchFamily="18" charset="0"/>
                        </a:rPr>
                        <a:t>Author</a:t>
                      </a:r>
                    </a:p>
                  </a:txBody>
                  <a:tcPr/>
                </a:tc>
                <a:tc>
                  <a:txBody>
                    <a:bodyPr/>
                    <a:lstStyle/>
                    <a:p>
                      <a:pPr algn="ctr"/>
                      <a:r>
                        <a:rPr lang="en-IN" sz="2000" b="1" dirty="0">
                          <a:solidFill>
                            <a:srgbClr val="F7F7F7"/>
                          </a:solidFill>
                          <a:latin typeface="Times New Roman" panose="02020603050405020304" pitchFamily="18" charset="0"/>
                          <a:cs typeface="Times New Roman" panose="02020603050405020304" pitchFamily="18" charset="0"/>
                        </a:rPr>
                        <a:t>Summary</a:t>
                      </a:r>
                    </a:p>
                  </a:txBody>
                  <a:tcPr/>
                </a:tc>
                <a:extLst>
                  <a:ext uri="{0D108BD9-81ED-4DB2-BD59-A6C34878D82A}">
                    <a16:rowId xmlns:a16="http://schemas.microsoft.com/office/drawing/2014/main" val="261043929"/>
                  </a:ext>
                </a:extLst>
              </a:tr>
              <a:tr h="720000">
                <a:tc>
                  <a:txBody>
                    <a:bodyPr/>
                    <a:lstStyle/>
                    <a:p>
                      <a:pPr algn="ctr"/>
                      <a:r>
                        <a:rPr lang="en-US"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hlinkClick r:id="rId2"/>
                        </a:rPr>
                        <a:t>Survey on Use of AI/ML Algorithms in Enhancing Filesystem Performance and Efficiency </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400" b="0" i="0" kern="1200" dirty="0">
                          <a:solidFill>
                            <a:schemeClr val="dk1"/>
                          </a:solidFill>
                          <a:effectLst/>
                          <a:latin typeface="+mn-lt"/>
                          <a:ea typeface="+mn-ea"/>
                          <a:cs typeface="+mn-cs"/>
                        </a:rPr>
                        <a:t>V. </a:t>
                      </a:r>
                      <a:r>
                        <a:rPr lang="en-US" sz="1400" b="0" i="0" kern="1200" dirty="0" err="1">
                          <a:solidFill>
                            <a:schemeClr val="dk1"/>
                          </a:solidFill>
                          <a:effectLst/>
                          <a:latin typeface="+mn-lt"/>
                          <a:ea typeface="+mn-ea"/>
                          <a:cs typeface="+mn-cs"/>
                        </a:rPr>
                        <a:t>Olekar</a:t>
                      </a:r>
                      <a:r>
                        <a:rPr lang="en-US" sz="1400" b="0" i="0" kern="1200" dirty="0">
                          <a:solidFill>
                            <a:schemeClr val="dk1"/>
                          </a:solidFill>
                          <a:effectLst/>
                          <a:latin typeface="+mn-lt"/>
                          <a:ea typeface="+mn-ea"/>
                          <a:cs typeface="+mn-cs"/>
                        </a:rPr>
                        <a:t>, Y. Patil, V. Pawar, S. Pitale, V. R. Jaiswal and V. </a:t>
                      </a:r>
                      <a:r>
                        <a:rPr lang="en-US" sz="1400" b="0" i="0" kern="1200" dirty="0" err="1">
                          <a:solidFill>
                            <a:schemeClr val="dk1"/>
                          </a:solidFill>
                          <a:effectLst/>
                          <a:latin typeface="+mn-lt"/>
                          <a:ea typeface="+mn-ea"/>
                          <a:cs typeface="+mn-cs"/>
                        </a:rPr>
                        <a:t>Naranje</a:t>
                      </a:r>
                      <a:endParaRPr lang="en-IN" sz="14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As CPUs get faster, slow disk access limits performance. This survey explores how machine learning can detect file access patterns to optimize I/O and boost system efficiency.</a:t>
                      </a:r>
                      <a:endParaRPr lang="en-US"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8056876"/>
                  </a:ext>
                </a:extLst>
              </a:tr>
              <a:tr h="597822">
                <a:tc>
                  <a:txBody>
                    <a:bodyPr/>
                    <a:lstStyle/>
                    <a:p>
                      <a:pPr algn="ctr"/>
                      <a:r>
                        <a:rPr lang="en-US"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hlinkClick r:id="rId3"/>
                        </a:rPr>
                        <a:t>Scaling AI-Driven Solutions for Semantic Search </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IN" sz="1400" b="0" i="0" kern="1200" dirty="0">
                          <a:solidFill>
                            <a:schemeClr val="dk1"/>
                          </a:solidFill>
                          <a:effectLst/>
                          <a:latin typeface="+mn-lt"/>
                          <a:ea typeface="+mn-ea"/>
                          <a:cs typeface="+mn-cs"/>
                        </a:rPr>
                        <a:t>A. Srivastava, M. Nalluri, T. Lata, G. </a:t>
                      </a:r>
                      <a:r>
                        <a:rPr lang="en-IN" sz="1400" b="0" i="0" kern="1200" dirty="0" err="1">
                          <a:solidFill>
                            <a:schemeClr val="dk1"/>
                          </a:solidFill>
                          <a:effectLst/>
                          <a:latin typeface="+mn-lt"/>
                          <a:ea typeface="+mn-ea"/>
                          <a:cs typeface="+mn-cs"/>
                        </a:rPr>
                        <a:t>Ramadas</a:t>
                      </a:r>
                      <a:r>
                        <a:rPr lang="en-IN" sz="1400" b="0" i="0" kern="1200" dirty="0">
                          <a:solidFill>
                            <a:schemeClr val="dk1"/>
                          </a:solidFill>
                          <a:effectLst/>
                          <a:latin typeface="+mn-lt"/>
                          <a:ea typeface="+mn-ea"/>
                          <a:cs typeface="+mn-cs"/>
                        </a:rPr>
                        <a:t>, N. Sreekanth and H. B</a:t>
                      </a:r>
                      <a:endParaRPr lang="en-IN" sz="1400" b="1" dirty="0">
                        <a:latin typeface="Times New Roman" panose="02020603050405020304" pitchFamily="18" charset="0"/>
                        <a:cs typeface="Times New Roman" panose="02020603050405020304" pitchFamily="18" charset="0"/>
                      </a:endParaRPr>
                    </a:p>
                  </a:txBody>
                  <a:tcPr/>
                </a:tc>
                <a:tc>
                  <a:txBody>
                    <a:bodyPr/>
                    <a:lstStyle/>
                    <a:p>
                      <a:pPr algn="ctr"/>
                      <a:r>
                        <a:rPr lang="en-US" sz="1400" dirty="0"/>
                        <a:t>AI-driven semantic search combines NLP, machine learning, knowledge graphs, ontologies, and text analytics to understand queries and retrieve relevant results efficiently. Indexing and SEO ensure fast and optimized content access.</a:t>
                      </a:r>
                    </a:p>
                  </a:txBody>
                  <a:tcPr/>
                </a:tc>
                <a:extLst>
                  <a:ext uri="{0D108BD9-81ED-4DB2-BD59-A6C34878D82A}">
                    <a16:rowId xmlns:a16="http://schemas.microsoft.com/office/drawing/2014/main" val="2017135385"/>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hlinkClick r:id="rId4"/>
                        </a:rPr>
                        <a:t>Managing computer files via artificial intelligence approaches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600" b="0" i="0" kern="1200" dirty="0">
                          <a:solidFill>
                            <a:schemeClr val="dk1"/>
                          </a:solidFill>
                          <a:effectLst/>
                          <a:latin typeface="+mn-lt"/>
                          <a:ea typeface="+mn-ea"/>
                          <a:cs typeface="+mn-cs"/>
                        </a:rPr>
                        <a:t>Jin, X., Jiang, J. &amp; Min</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An intelligent agent–based file management system using case-based reasoning (CBR) guides users in deciding which files to keep, delete, or preserve, demonstrating effective and efficient performance.</a:t>
                      </a:r>
                    </a:p>
                  </a:txBody>
                  <a:tcPr/>
                </a:tc>
                <a:extLst>
                  <a:ext uri="{0D108BD9-81ED-4DB2-BD59-A6C34878D82A}">
                    <a16:rowId xmlns:a16="http://schemas.microsoft.com/office/drawing/2014/main" val="1460853742"/>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hlinkClick r:id="rId5"/>
                        </a:rPr>
                        <a:t> On-Device AI Models : Advancing Privacy-First Machine Learning for Mobile Applications </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0" dirty="0">
                          <a:latin typeface="Times New Roman" panose="02020603050405020304" pitchFamily="18" charset="0"/>
                          <a:cs typeface="Times New Roman" panose="02020603050405020304" pitchFamily="18" charset="0"/>
                        </a:rPr>
                        <a:t>Ubale, Sushant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On-device AI enhances mobile computing by improving privacy, reducing latency, and enabling advanced AI on resource-limited devices, with applications in social media, healthcare, and finance.</a:t>
                      </a:r>
                      <a:endParaRPr lang="en-US" sz="1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27835595"/>
                  </a:ext>
                </a:extLst>
              </a:tr>
              <a:tr h="59782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Times New Roman" panose="02020603050405020304" pitchFamily="18" charset="0"/>
                          <a:ea typeface="+mn-ea"/>
                          <a:cs typeface="Times New Roman" panose="02020603050405020304" pitchFamily="18" charset="0"/>
                          <a:hlinkClick r:id="rId6"/>
                        </a:rPr>
                        <a:t>Enhancing Document Retrieval with Semantic Embeddings</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0" i="0" kern="1200" dirty="0">
                          <a:solidFill>
                            <a:schemeClr val="dk1"/>
                          </a:solidFill>
                          <a:effectLst/>
                          <a:latin typeface="+mn-lt"/>
                          <a:ea typeface="+mn-ea"/>
                          <a:cs typeface="+mn-cs"/>
                        </a:rPr>
                        <a:t>Solmaz Seyed Monir, Irene Lau, </a:t>
                      </a:r>
                      <a:r>
                        <a:rPr lang="en-IN" sz="1400" b="0" i="0" kern="1200" dirty="0" err="1">
                          <a:solidFill>
                            <a:schemeClr val="dk1"/>
                          </a:solidFill>
                          <a:effectLst/>
                          <a:latin typeface="+mn-lt"/>
                          <a:ea typeface="+mn-ea"/>
                          <a:cs typeface="+mn-cs"/>
                        </a:rPr>
                        <a:t>Shubing</a:t>
                      </a:r>
                      <a:r>
                        <a:rPr lang="en-IN" sz="1400" b="0" i="0" kern="1200" dirty="0">
                          <a:solidFill>
                            <a:schemeClr val="dk1"/>
                          </a:solidFill>
                          <a:effectLst/>
                          <a:latin typeface="+mn-lt"/>
                          <a:ea typeface="+mn-ea"/>
                          <a:cs typeface="+mn-cs"/>
                        </a:rPr>
                        <a:t> Yang, Dongfang Zhao</a:t>
                      </a:r>
                      <a:endParaRPr lang="en-IN" sz="14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err="1"/>
                        <a:t>VectorSearch</a:t>
                      </a:r>
                      <a:r>
                        <a:rPr lang="en-US" sz="1400" b="0" dirty="0"/>
                        <a:t> enhances document retrieval by using embeddings and multi-vector search to capture semantics, outperforming traditional methods on large-scale datasets.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40102218"/>
                  </a:ext>
                </a:extLst>
              </a:tr>
              <a:tr h="854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Times New Roman" panose="02020603050405020304" pitchFamily="18" charset="0"/>
                          <a:ea typeface="+mn-ea"/>
                          <a:cs typeface="Times New Roman" panose="02020603050405020304" pitchFamily="18" charset="0"/>
                          <a:hlinkClick r:id="rId7"/>
                        </a:rPr>
                        <a:t>Federated Learning: A Survey on Privacy-Preserving Collaborative Intelligence</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i="0" kern="1200" dirty="0" err="1">
                          <a:solidFill>
                            <a:schemeClr val="dk1"/>
                          </a:solidFill>
                          <a:effectLst/>
                          <a:latin typeface="+mn-lt"/>
                          <a:ea typeface="+mn-ea"/>
                          <a:cs typeface="+mn-cs"/>
                        </a:rPr>
                        <a:t>Ratun</a:t>
                      </a:r>
                      <a:r>
                        <a:rPr lang="en-IN" sz="1800" b="0" i="0" kern="1200" dirty="0">
                          <a:solidFill>
                            <a:schemeClr val="dk1"/>
                          </a:solidFill>
                          <a:effectLst/>
                          <a:latin typeface="+mn-lt"/>
                          <a:ea typeface="+mn-ea"/>
                          <a:cs typeface="+mn-cs"/>
                        </a:rPr>
                        <a:t> Rahman</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t>Federated Learning allows collaborative model training without sharing sensitive data, addressing privacy, heterogeneity, and communication challenges, with applications in healthcare, finance, and IoT.</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52611537"/>
                  </a:ext>
                </a:extLst>
              </a:tr>
            </a:tbl>
          </a:graphicData>
        </a:graphic>
      </p:graphicFrame>
    </p:spTree>
    <p:extLst>
      <p:ext uri="{BB962C8B-B14F-4D97-AF65-F5344CB8AC3E}">
        <p14:creationId xmlns:p14="http://schemas.microsoft.com/office/powerpoint/2010/main" val="910735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4820-997B-AAC9-726A-92C71D4768C7}"/>
              </a:ext>
            </a:extLst>
          </p:cNvPr>
          <p:cNvSpPr>
            <a:spLocks noGrp="1"/>
          </p:cNvSpPr>
          <p:nvPr>
            <p:ph type="title"/>
          </p:nvPr>
        </p:nvSpPr>
        <p:spPr/>
        <p:txBody>
          <a:bodyPr/>
          <a:lstStyle/>
          <a:p>
            <a:r>
              <a:rPr lang="en-US" dirty="0"/>
              <a:t>   Flowchart</a:t>
            </a:r>
            <a:endParaRPr lang="en-IN" dirty="0"/>
          </a:p>
        </p:txBody>
      </p:sp>
      <p:pic>
        <p:nvPicPr>
          <p:cNvPr id="14" name="Content Placeholder 13">
            <a:extLst>
              <a:ext uri="{FF2B5EF4-FFF2-40B4-BE49-F238E27FC236}">
                <a16:creationId xmlns:a16="http://schemas.microsoft.com/office/drawing/2014/main" id="{57A809AE-01EE-42FD-7533-05C0F03688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373" y="874296"/>
            <a:ext cx="11779250" cy="5750946"/>
          </a:xfrm>
        </p:spPr>
      </p:pic>
    </p:spTree>
    <p:extLst>
      <p:ext uri="{BB962C8B-B14F-4D97-AF65-F5344CB8AC3E}">
        <p14:creationId xmlns:p14="http://schemas.microsoft.com/office/powerpoint/2010/main" val="1557853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DA5AA-D9BB-AE9F-4017-17F70F8D0702}"/>
              </a:ext>
            </a:extLst>
          </p:cNvPr>
          <p:cNvSpPr>
            <a:spLocks noGrp="1"/>
          </p:cNvSpPr>
          <p:nvPr>
            <p:ph type="title"/>
          </p:nvPr>
        </p:nvSpPr>
        <p:spPr/>
        <p:txBody>
          <a:bodyPr/>
          <a:lstStyle/>
          <a:p>
            <a:r>
              <a:rPr lang="en-IN" dirty="0"/>
              <a:t>Proposed Methodology</a:t>
            </a:r>
          </a:p>
        </p:txBody>
      </p:sp>
      <p:sp>
        <p:nvSpPr>
          <p:cNvPr id="3" name="Content Placeholder 2">
            <a:extLst>
              <a:ext uri="{FF2B5EF4-FFF2-40B4-BE49-F238E27FC236}">
                <a16:creationId xmlns:a16="http://schemas.microsoft.com/office/drawing/2014/main" id="{A06209C6-D08F-6833-6FE6-47125B8CF594}"/>
              </a:ext>
            </a:extLst>
          </p:cNvPr>
          <p:cNvSpPr>
            <a:spLocks noGrp="1"/>
          </p:cNvSpPr>
          <p:nvPr>
            <p:ph idx="1"/>
          </p:nvPr>
        </p:nvSpPr>
        <p:spPr>
          <a:xfrm>
            <a:off x="199505" y="904568"/>
            <a:ext cx="11779135" cy="5587671"/>
          </a:xfrm>
        </p:spPr>
        <p:txBody>
          <a:bodyPr>
            <a:normAutofit fontScale="92500" lnSpcReduction="20000"/>
          </a:bodyPr>
          <a:lstStyle/>
          <a:p>
            <a:pPr marL="0" indent="0" algn="l">
              <a:spcAft>
                <a:spcPts val="600"/>
              </a:spcAft>
              <a:buNone/>
            </a:pPr>
            <a:r>
              <a:rPr lang="en-US" b="1" dirty="0"/>
              <a:t>1.Ingest &amp; Extract</a:t>
            </a:r>
            <a:br>
              <a:rPr lang="en-US" dirty="0"/>
            </a:br>
            <a:r>
              <a:rPr lang="en-US" dirty="0"/>
              <a:t>– Detect new/updated files → extract text, metadata, and OCR content.</a:t>
            </a:r>
          </a:p>
          <a:p>
            <a:pPr marL="0" indent="0" algn="l">
              <a:spcAft>
                <a:spcPts val="600"/>
              </a:spcAft>
              <a:buNone/>
            </a:pPr>
            <a:r>
              <a:rPr lang="en-US" b="1" dirty="0"/>
              <a:t>2.Embed &amp; Index</a:t>
            </a:r>
            <a:br>
              <a:rPr lang="en-US" dirty="0"/>
            </a:br>
            <a:r>
              <a:rPr lang="en-US" dirty="0"/>
              <a:t>– Generate on-device AI embeddings and store in a local vector index.</a:t>
            </a:r>
          </a:p>
          <a:p>
            <a:pPr marL="0" indent="0" algn="l">
              <a:spcAft>
                <a:spcPts val="600"/>
              </a:spcAft>
              <a:buNone/>
            </a:pPr>
            <a:r>
              <a:rPr lang="en-US" b="1" dirty="0"/>
              <a:t>3. Semantic Search</a:t>
            </a:r>
            <a:br>
              <a:rPr lang="en-US" dirty="0"/>
            </a:br>
            <a:r>
              <a:rPr lang="en-US" dirty="0"/>
              <a:t>– Convert user queries into embeddings → retrieve files by meaning, not filename.</a:t>
            </a:r>
          </a:p>
          <a:p>
            <a:pPr marL="0" indent="0" algn="l">
              <a:spcAft>
                <a:spcPts val="600"/>
              </a:spcAft>
              <a:buNone/>
            </a:pPr>
            <a:r>
              <a:rPr lang="en-US" b="1" dirty="0"/>
              <a:t>4. Auto-Organization</a:t>
            </a:r>
            <a:br>
              <a:rPr lang="en-US" dirty="0"/>
            </a:br>
            <a:r>
              <a:rPr lang="en-US" dirty="0"/>
              <a:t>– AI classifies files and assigns folders/tags automatically.</a:t>
            </a:r>
          </a:p>
          <a:p>
            <a:pPr marL="0" indent="0" algn="l">
              <a:spcAft>
                <a:spcPts val="600"/>
              </a:spcAft>
              <a:buNone/>
            </a:pPr>
            <a:r>
              <a:rPr lang="en-US" b="1" dirty="0"/>
              <a:t>5. Conversational File Assistant</a:t>
            </a:r>
            <a:br>
              <a:rPr lang="en-US" dirty="0"/>
            </a:br>
            <a:r>
              <a:rPr lang="en-US" dirty="0"/>
              <a:t>– Ask anything about your files (summaries, insights, search) — processed fully offline.</a:t>
            </a:r>
          </a:p>
          <a:p>
            <a:pPr marL="0" indent="0" algn="l">
              <a:spcAft>
                <a:spcPts val="600"/>
              </a:spcAft>
              <a:buNone/>
            </a:pPr>
            <a:r>
              <a:rPr lang="en-US" b="1" dirty="0"/>
              <a:t>6. AI Versioning</a:t>
            </a:r>
            <a:br>
              <a:rPr lang="en-US" dirty="0"/>
            </a:br>
            <a:r>
              <a:rPr lang="en-US" dirty="0"/>
              <a:t>– Track edits automatically, detect conflicts, and provide smart merge suggestions.</a:t>
            </a:r>
          </a:p>
          <a:p>
            <a:pPr marL="0" indent="0" algn="l">
              <a:spcAft>
                <a:spcPts val="600"/>
              </a:spcAft>
              <a:buNone/>
            </a:pPr>
            <a:r>
              <a:rPr lang="en-US" b="1" dirty="0"/>
              <a:t>7. Privacy-First Execution</a:t>
            </a:r>
            <a:br>
              <a:rPr lang="en-US" dirty="0"/>
            </a:br>
            <a:r>
              <a:rPr lang="en-US" dirty="0"/>
              <a:t>– All processing, indexing, and AI inference runs locally — zero cloud dependency</a:t>
            </a:r>
          </a:p>
          <a:p>
            <a:pPr marL="0" indent="0" algn="l">
              <a:spcAft>
                <a:spcPts val="600"/>
              </a:spcAft>
              <a:buNone/>
            </a:pPr>
            <a:endParaRPr lang="en-IN" dirty="0"/>
          </a:p>
        </p:txBody>
      </p:sp>
    </p:spTree>
    <p:extLst>
      <p:ext uri="{BB962C8B-B14F-4D97-AF65-F5344CB8AC3E}">
        <p14:creationId xmlns:p14="http://schemas.microsoft.com/office/powerpoint/2010/main" val="2258787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A633F-6186-1A69-5390-AF2C8FF17FE6}"/>
              </a:ext>
            </a:extLst>
          </p:cNvPr>
          <p:cNvSpPr>
            <a:spLocks noGrp="1"/>
          </p:cNvSpPr>
          <p:nvPr>
            <p:ph type="title"/>
          </p:nvPr>
        </p:nvSpPr>
        <p:spPr/>
        <p:txBody>
          <a:bodyPr/>
          <a:lstStyle/>
          <a:p>
            <a:r>
              <a:rPr lang="en-IN" dirty="0"/>
              <a:t>Selected Algorithms</a:t>
            </a:r>
          </a:p>
        </p:txBody>
      </p:sp>
      <p:sp>
        <p:nvSpPr>
          <p:cNvPr id="3" name="Content Placeholder 2">
            <a:extLst>
              <a:ext uri="{FF2B5EF4-FFF2-40B4-BE49-F238E27FC236}">
                <a16:creationId xmlns:a16="http://schemas.microsoft.com/office/drawing/2014/main" id="{B342DC2A-17BB-8F09-6519-58818B72A3C9}"/>
              </a:ext>
            </a:extLst>
          </p:cNvPr>
          <p:cNvSpPr>
            <a:spLocks noGrp="1"/>
          </p:cNvSpPr>
          <p:nvPr>
            <p:ph idx="1"/>
          </p:nvPr>
        </p:nvSpPr>
        <p:spPr>
          <a:xfrm>
            <a:off x="98323" y="845574"/>
            <a:ext cx="12398477" cy="5899355"/>
          </a:xfrm>
        </p:spPr>
        <p:txBody>
          <a:bodyPr>
            <a:normAutofit/>
          </a:bodyPr>
          <a:lstStyle/>
          <a:p>
            <a:pPr marL="0" indent="0" algn="l">
              <a:buNone/>
            </a:pPr>
            <a:r>
              <a:rPr lang="en-IN" b="1" dirty="0"/>
              <a:t>1. Text &amp; Metadata Extraction</a:t>
            </a:r>
            <a:br>
              <a:rPr lang="en-IN" dirty="0"/>
            </a:br>
            <a:r>
              <a:rPr lang="en-IN" dirty="0"/>
              <a:t>– OCR (Tesseract / On-device OCR)</a:t>
            </a:r>
            <a:br>
              <a:rPr lang="en-IN" dirty="0"/>
            </a:br>
            <a:r>
              <a:rPr lang="en-IN" dirty="0"/>
              <a:t>– PDF/DOC parsing &amp; metadata extraction</a:t>
            </a:r>
          </a:p>
          <a:p>
            <a:pPr marL="0" indent="0" algn="l">
              <a:buNone/>
            </a:pPr>
            <a:r>
              <a:rPr lang="en-IN" b="1" dirty="0"/>
              <a:t>2. Semantic Embedding Models</a:t>
            </a:r>
            <a:br>
              <a:rPr lang="en-IN" dirty="0"/>
            </a:br>
            <a:r>
              <a:rPr lang="en-IN" dirty="0"/>
              <a:t>– On-device sentence embedding (</a:t>
            </a:r>
            <a:r>
              <a:rPr lang="en-IN" dirty="0" err="1"/>
              <a:t>MiniLM</a:t>
            </a:r>
            <a:r>
              <a:rPr lang="en-IN" dirty="0"/>
              <a:t> / </a:t>
            </a:r>
            <a:r>
              <a:rPr lang="en-IN" dirty="0" err="1"/>
              <a:t>MobileBERT</a:t>
            </a:r>
            <a:r>
              <a:rPr lang="en-IN" dirty="0"/>
              <a:t> / </a:t>
            </a:r>
            <a:r>
              <a:rPr lang="en-IN" dirty="0" err="1"/>
              <a:t>DistilBERT</a:t>
            </a:r>
            <a:r>
              <a:rPr lang="en-IN" dirty="0"/>
              <a:t> variants)</a:t>
            </a:r>
            <a:br>
              <a:rPr lang="en-IN" dirty="0"/>
            </a:br>
            <a:r>
              <a:rPr lang="en-IN" dirty="0"/>
              <a:t>– Vector representations for meaning-based retrieval</a:t>
            </a:r>
          </a:p>
          <a:p>
            <a:pPr marL="0" indent="0" algn="l">
              <a:buNone/>
            </a:pPr>
            <a:r>
              <a:rPr lang="en-IN" b="1" dirty="0"/>
              <a:t>3. Vector Search Engine</a:t>
            </a:r>
            <a:br>
              <a:rPr lang="en-IN" dirty="0"/>
            </a:br>
            <a:r>
              <a:rPr lang="en-IN" dirty="0"/>
              <a:t>– Local vector store (FAISS / SQLite-IVF / HNSW)</a:t>
            </a:r>
            <a:br>
              <a:rPr lang="en-IN" dirty="0"/>
            </a:br>
            <a:r>
              <a:rPr lang="en-IN" dirty="0"/>
              <a:t>– Approximate nearest </a:t>
            </a:r>
            <a:r>
              <a:rPr lang="en-IN" dirty="0" err="1"/>
              <a:t>neighbor</a:t>
            </a:r>
            <a:r>
              <a:rPr lang="en-IN" dirty="0"/>
              <a:t> search for fast file lookup</a:t>
            </a:r>
          </a:p>
          <a:p>
            <a:pPr marL="0" indent="0" algn="l">
              <a:buNone/>
            </a:pPr>
            <a:r>
              <a:rPr lang="en-IN" b="1" dirty="0"/>
              <a:t>4. Document Classification &amp; Auto-Tagging</a:t>
            </a:r>
            <a:br>
              <a:rPr lang="en-IN" dirty="0"/>
            </a:br>
            <a:r>
              <a:rPr lang="en-IN" dirty="0"/>
              <a:t>– Lightweight on-device classifiers</a:t>
            </a:r>
            <a:br>
              <a:rPr lang="en-IN" dirty="0"/>
            </a:br>
            <a:r>
              <a:rPr lang="en-IN" dirty="0"/>
              <a:t>– Keyword extraction &amp; topic </a:t>
            </a:r>
            <a:r>
              <a:rPr lang="en-IN" dirty="0" err="1"/>
              <a:t>modeling</a:t>
            </a:r>
            <a:r>
              <a:rPr lang="en-IN" dirty="0"/>
              <a:t> (TF-IDF + embeddings)</a:t>
            </a:r>
          </a:p>
        </p:txBody>
      </p:sp>
    </p:spTree>
    <p:extLst>
      <p:ext uri="{BB962C8B-B14F-4D97-AF65-F5344CB8AC3E}">
        <p14:creationId xmlns:p14="http://schemas.microsoft.com/office/powerpoint/2010/main" val="4262139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540CA-484E-DBF0-2D0A-FFC8071C6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BC54B-BF4C-461E-7997-B9228B449CB5}"/>
              </a:ext>
            </a:extLst>
          </p:cNvPr>
          <p:cNvSpPr>
            <a:spLocks noGrp="1"/>
          </p:cNvSpPr>
          <p:nvPr>
            <p:ph type="title"/>
          </p:nvPr>
        </p:nvSpPr>
        <p:spPr/>
        <p:txBody>
          <a:bodyPr/>
          <a:lstStyle/>
          <a:p>
            <a:r>
              <a:rPr lang="en-IN" dirty="0"/>
              <a:t>Selected Algorithms</a:t>
            </a:r>
          </a:p>
        </p:txBody>
      </p:sp>
      <p:sp>
        <p:nvSpPr>
          <p:cNvPr id="3" name="Content Placeholder 2">
            <a:extLst>
              <a:ext uri="{FF2B5EF4-FFF2-40B4-BE49-F238E27FC236}">
                <a16:creationId xmlns:a16="http://schemas.microsoft.com/office/drawing/2014/main" id="{3EAFAE63-A133-B658-CD9D-C740924FA336}"/>
              </a:ext>
            </a:extLst>
          </p:cNvPr>
          <p:cNvSpPr>
            <a:spLocks noGrp="1"/>
          </p:cNvSpPr>
          <p:nvPr>
            <p:ph idx="1"/>
          </p:nvPr>
        </p:nvSpPr>
        <p:spPr>
          <a:xfrm>
            <a:off x="98323" y="845574"/>
            <a:ext cx="12398477" cy="5899355"/>
          </a:xfrm>
        </p:spPr>
        <p:txBody>
          <a:bodyPr>
            <a:normAutofit/>
          </a:bodyPr>
          <a:lstStyle/>
          <a:p>
            <a:pPr marL="0" indent="0" algn="l">
              <a:buNone/>
            </a:pPr>
            <a:r>
              <a:rPr lang="en-IN" b="1" dirty="0"/>
              <a:t>5. Natural Language Understanding (NLU)</a:t>
            </a:r>
            <a:br>
              <a:rPr lang="en-IN" dirty="0"/>
            </a:br>
            <a:r>
              <a:rPr lang="en-IN" dirty="0"/>
              <a:t>– Intent detection for user queries</a:t>
            </a:r>
            <a:br>
              <a:rPr lang="en-IN" dirty="0"/>
            </a:br>
            <a:r>
              <a:rPr lang="en-IN" dirty="0"/>
              <a:t>– Query parsing using embedding similarity + rule-based refinements</a:t>
            </a:r>
          </a:p>
          <a:p>
            <a:pPr marL="0" indent="0" algn="l">
              <a:buNone/>
            </a:pPr>
            <a:r>
              <a:rPr lang="en-IN" b="1" dirty="0"/>
              <a:t>6. AI Versioning &amp; Diffing</a:t>
            </a:r>
            <a:br>
              <a:rPr lang="en-IN" dirty="0"/>
            </a:br>
            <a:r>
              <a:rPr lang="en-IN" dirty="0"/>
              <a:t>– Semantic diff algorithms (token-level &amp; sentence-level comparison)</a:t>
            </a:r>
            <a:br>
              <a:rPr lang="en-IN" dirty="0"/>
            </a:br>
            <a:r>
              <a:rPr lang="en-IN" dirty="0"/>
              <a:t>– Conflict detection &amp; AI-assisted merge suggestions</a:t>
            </a:r>
          </a:p>
          <a:p>
            <a:pPr marL="0" indent="0" algn="l">
              <a:buNone/>
            </a:pPr>
            <a:r>
              <a:rPr lang="en-IN" b="1" dirty="0"/>
              <a:t>7. Privacy-First Local Execution</a:t>
            </a:r>
            <a:br>
              <a:rPr lang="en-IN" dirty="0"/>
            </a:br>
            <a:r>
              <a:rPr lang="en-IN" dirty="0"/>
              <a:t>– All models run offline using Python backend via Flutter "Serious Python"</a:t>
            </a:r>
            <a:br>
              <a:rPr lang="en-IN" dirty="0"/>
            </a:br>
            <a:r>
              <a:rPr lang="en-IN" dirty="0"/>
              <a:t>– Encrypted local storage for indexes &amp; versions</a:t>
            </a:r>
          </a:p>
          <a:p>
            <a:pPr marL="0" indent="0" algn="l">
              <a:buNone/>
            </a:pPr>
            <a:endParaRPr lang="en-IN" dirty="0"/>
          </a:p>
        </p:txBody>
      </p:sp>
    </p:spTree>
    <p:extLst>
      <p:ext uri="{BB962C8B-B14F-4D97-AF65-F5344CB8AC3E}">
        <p14:creationId xmlns:p14="http://schemas.microsoft.com/office/powerpoint/2010/main" val="282739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64C75-E4EC-40F7-7761-647E08A5969C}"/>
              </a:ext>
            </a:extLst>
          </p:cNvPr>
          <p:cNvSpPr>
            <a:spLocks noGrp="1"/>
          </p:cNvSpPr>
          <p:nvPr>
            <p:ph type="title"/>
          </p:nvPr>
        </p:nvSpPr>
        <p:spPr/>
        <p:txBody>
          <a:bodyPr/>
          <a:lstStyle/>
          <a:p>
            <a:r>
              <a:rPr lang="en-IN" dirty="0"/>
              <a:t>Description Of </a:t>
            </a:r>
            <a:r>
              <a:rPr lang="en-IN" dirty="0" err="1"/>
              <a:t>Exsisting</a:t>
            </a:r>
            <a:r>
              <a:rPr lang="en-IN" dirty="0"/>
              <a:t> Dataset</a:t>
            </a:r>
          </a:p>
        </p:txBody>
      </p:sp>
      <p:sp>
        <p:nvSpPr>
          <p:cNvPr id="3" name="Content Placeholder 2">
            <a:extLst>
              <a:ext uri="{FF2B5EF4-FFF2-40B4-BE49-F238E27FC236}">
                <a16:creationId xmlns:a16="http://schemas.microsoft.com/office/drawing/2014/main" id="{A3DA0B90-75EE-7F6B-C2F4-7243DAFC6AE4}"/>
              </a:ext>
            </a:extLst>
          </p:cNvPr>
          <p:cNvSpPr>
            <a:spLocks noGrp="1"/>
          </p:cNvSpPr>
          <p:nvPr>
            <p:ph idx="1"/>
          </p:nvPr>
        </p:nvSpPr>
        <p:spPr/>
        <p:txBody>
          <a:bodyPr>
            <a:normAutofit fontScale="77500" lnSpcReduction="20000"/>
          </a:bodyPr>
          <a:lstStyle/>
          <a:p>
            <a:pPr marL="0" indent="0" algn="l">
              <a:buNone/>
            </a:pPr>
            <a:r>
              <a:rPr lang="en-IN" b="1" dirty="0"/>
              <a:t>1. Dataset Source</a:t>
            </a:r>
            <a:br>
              <a:rPr lang="en-IN" dirty="0"/>
            </a:br>
            <a:r>
              <a:rPr lang="en-IN" dirty="0"/>
              <a:t>The existing dataset consists of real user device files collected from typical daily usage—documents, images, PDFs, notes, and media stored locally on the system.</a:t>
            </a:r>
          </a:p>
          <a:p>
            <a:pPr algn="l"/>
            <a:endParaRPr lang="en-IN" dirty="0"/>
          </a:p>
          <a:p>
            <a:pPr marL="0" indent="0" algn="l">
              <a:buNone/>
            </a:pPr>
            <a:r>
              <a:rPr lang="en-IN" b="1" dirty="0"/>
              <a:t>2. Dataset Composition</a:t>
            </a:r>
            <a:endParaRPr lang="en-IN" dirty="0"/>
          </a:p>
          <a:p>
            <a:pPr marL="0" indent="0" algn="l">
              <a:buNone/>
            </a:pPr>
            <a:r>
              <a:rPr lang="en-IN" b="1" dirty="0"/>
              <a:t>- Documents:</a:t>
            </a:r>
            <a:r>
              <a:rPr lang="en-IN" dirty="0"/>
              <a:t> PDFs, Word files, text files, research papers</a:t>
            </a:r>
          </a:p>
          <a:p>
            <a:pPr marL="0" indent="0" algn="l">
              <a:buNone/>
            </a:pPr>
            <a:r>
              <a:rPr lang="en-IN" b="1" dirty="0"/>
              <a:t>- Images:</a:t>
            </a:r>
            <a:r>
              <a:rPr lang="en-IN" dirty="0"/>
              <a:t> Screenshots, receipts, photos, scanned documents</a:t>
            </a:r>
          </a:p>
          <a:p>
            <a:pPr marL="0" indent="0" algn="l">
              <a:buNone/>
            </a:pPr>
            <a:r>
              <a:rPr lang="en-IN" b="1" dirty="0"/>
              <a:t>- Media:</a:t>
            </a:r>
            <a:r>
              <a:rPr lang="en-IN" dirty="0"/>
              <a:t> Audio/video files with metadata</a:t>
            </a:r>
          </a:p>
          <a:p>
            <a:pPr marL="0" indent="0" algn="l">
              <a:buNone/>
            </a:pPr>
            <a:r>
              <a:rPr lang="en-IN" b="1" dirty="0"/>
              <a:t>- System Files:</a:t>
            </a:r>
            <a:r>
              <a:rPr lang="en-IN" dirty="0"/>
              <a:t> Logs, configuration files, downloaded items</a:t>
            </a:r>
          </a:p>
          <a:p>
            <a:pPr algn="l"/>
            <a:endParaRPr lang="en-IN" dirty="0"/>
          </a:p>
          <a:p>
            <a:pPr marL="0" indent="0" algn="l">
              <a:buNone/>
            </a:pPr>
            <a:r>
              <a:rPr lang="en-IN" b="1" dirty="0"/>
              <a:t>3. Size &amp; Diversity</a:t>
            </a:r>
            <a:endParaRPr lang="en-IN" dirty="0"/>
          </a:p>
          <a:p>
            <a:pPr marL="0" indent="0" algn="l">
              <a:buNone/>
            </a:pPr>
            <a:r>
              <a:rPr lang="en-IN" dirty="0"/>
              <a:t>Includes </a:t>
            </a:r>
            <a:r>
              <a:rPr lang="en-IN" b="1" dirty="0"/>
              <a:t>hundreds to thousands</a:t>
            </a:r>
            <a:r>
              <a:rPr lang="en-IN" dirty="0"/>
              <a:t> of mixed-format files.</a:t>
            </a:r>
          </a:p>
          <a:p>
            <a:pPr marL="0" indent="0" algn="l">
              <a:buNone/>
            </a:pPr>
            <a:r>
              <a:rPr lang="en-IN" dirty="0"/>
              <a:t>Contains both structured files (PDFs, DOCX) and unstructured ones (images, handwritten notes).</a:t>
            </a:r>
          </a:p>
          <a:p>
            <a:pPr marL="0" indent="0" algn="l">
              <a:buNone/>
            </a:pPr>
            <a:r>
              <a:rPr lang="en-IN" dirty="0"/>
              <a:t>Dataset varies in naming styles, quality, and organization—ideal for testing semantic search and auto-organization.</a:t>
            </a:r>
          </a:p>
          <a:p>
            <a:pPr marL="0" indent="0" algn="l">
              <a:buNone/>
            </a:pPr>
            <a:endParaRPr lang="en-IN" dirty="0"/>
          </a:p>
        </p:txBody>
      </p:sp>
    </p:spTree>
    <p:extLst>
      <p:ext uri="{BB962C8B-B14F-4D97-AF65-F5344CB8AC3E}">
        <p14:creationId xmlns:p14="http://schemas.microsoft.com/office/powerpoint/2010/main" val="2476983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EDC55-947F-DCB6-AF27-E2B4B00BF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FBD93-F697-24C4-0B62-A7978552846C}"/>
              </a:ext>
            </a:extLst>
          </p:cNvPr>
          <p:cNvSpPr>
            <a:spLocks noGrp="1"/>
          </p:cNvSpPr>
          <p:nvPr>
            <p:ph type="title"/>
          </p:nvPr>
        </p:nvSpPr>
        <p:spPr/>
        <p:txBody>
          <a:bodyPr/>
          <a:lstStyle/>
          <a:p>
            <a:r>
              <a:rPr lang="en-IN" dirty="0"/>
              <a:t>Description Of </a:t>
            </a:r>
            <a:r>
              <a:rPr lang="en-IN" dirty="0" err="1"/>
              <a:t>Exsisting</a:t>
            </a:r>
            <a:r>
              <a:rPr lang="en-IN" dirty="0"/>
              <a:t> Dataset</a:t>
            </a:r>
          </a:p>
        </p:txBody>
      </p:sp>
      <p:sp>
        <p:nvSpPr>
          <p:cNvPr id="3" name="Content Placeholder 2">
            <a:extLst>
              <a:ext uri="{FF2B5EF4-FFF2-40B4-BE49-F238E27FC236}">
                <a16:creationId xmlns:a16="http://schemas.microsoft.com/office/drawing/2014/main" id="{7D09B3A2-2BED-52AE-80EC-ADE2A4BE95D4}"/>
              </a:ext>
            </a:extLst>
          </p:cNvPr>
          <p:cNvSpPr>
            <a:spLocks noGrp="1"/>
          </p:cNvSpPr>
          <p:nvPr>
            <p:ph idx="1"/>
          </p:nvPr>
        </p:nvSpPr>
        <p:spPr/>
        <p:txBody>
          <a:bodyPr>
            <a:normAutofit lnSpcReduction="10000"/>
          </a:bodyPr>
          <a:lstStyle/>
          <a:p>
            <a:pPr marL="0" indent="0" algn="l">
              <a:buNone/>
            </a:pPr>
            <a:r>
              <a:rPr lang="en-US" b="1" dirty="0"/>
              <a:t>4. Characteristics</a:t>
            </a:r>
            <a:endParaRPr lang="en-US" dirty="0"/>
          </a:p>
          <a:p>
            <a:pPr marL="0" indent="0" algn="l">
              <a:buNone/>
            </a:pPr>
            <a:r>
              <a:rPr lang="en-US" b="1" dirty="0"/>
              <a:t>- Unorganized:</a:t>
            </a:r>
            <a:r>
              <a:rPr lang="en-US" dirty="0"/>
              <a:t> Random folder placements and inconsistent naming.</a:t>
            </a:r>
          </a:p>
          <a:p>
            <a:pPr marL="0" indent="0" algn="l">
              <a:buNone/>
            </a:pPr>
            <a:r>
              <a:rPr lang="en-US" b="1" dirty="0"/>
              <a:t>- Multi-format:</a:t>
            </a:r>
            <a:r>
              <a:rPr lang="en-US" dirty="0"/>
              <a:t> Wide range of file types requiring different extraction techniques.</a:t>
            </a:r>
          </a:p>
          <a:p>
            <a:pPr marL="0" indent="0" algn="l">
              <a:buNone/>
            </a:pPr>
            <a:r>
              <a:rPr lang="en-US" b="1" dirty="0"/>
              <a:t>- Content-Rich:</a:t>
            </a:r>
            <a:r>
              <a:rPr lang="en-US" dirty="0"/>
              <a:t> Suitable for text extraction, OCR, tagging, and version tracking.</a:t>
            </a:r>
          </a:p>
          <a:p>
            <a:pPr algn="l"/>
            <a:endParaRPr lang="en-US" dirty="0"/>
          </a:p>
          <a:p>
            <a:pPr marL="0" indent="0" algn="l">
              <a:buNone/>
            </a:pPr>
            <a:r>
              <a:rPr lang="en-US" b="1" dirty="0"/>
              <a:t>5. Purpose in The Project</a:t>
            </a:r>
            <a:endParaRPr lang="en-US" dirty="0"/>
          </a:p>
          <a:p>
            <a:pPr marL="0" indent="0" algn="l">
              <a:buNone/>
            </a:pPr>
            <a:r>
              <a:rPr lang="en-US" dirty="0"/>
              <a:t>Used to train, test, and validate:</a:t>
            </a:r>
          </a:p>
          <a:p>
            <a:pPr lvl="1" algn="l"/>
            <a:r>
              <a:rPr lang="en-US" dirty="0"/>
              <a:t>Semantic search accuracy</a:t>
            </a:r>
          </a:p>
          <a:p>
            <a:pPr lvl="1" algn="l"/>
            <a:r>
              <a:rPr lang="en-US" dirty="0"/>
              <a:t>Auto-organization models</a:t>
            </a:r>
          </a:p>
          <a:p>
            <a:pPr lvl="1" algn="l"/>
            <a:r>
              <a:rPr lang="en-US" dirty="0"/>
              <a:t>OCR and text extraction</a:t>
            </a:r>
          </a:p>
          <a:p>
            <a:pPr lvl="1" algn="l"/>
            <a:r>
              <a:rPr lang="en-US" dirty="0"/>
              <a:t>AI versioning and merging</a:t>
            </a:r>
          </a:p>
          <a:p>
            <a:pPr lvl="1" algn="l"/>
            <a:r>
              <a:rPr lang="en-US" dirty="0"/>
              <a:t>Conversational file interaction</a:t>
            </a:r>
          </a:p>
          <a:p>
            <a:pPr marL="0" indent="0" algn="l">
              <a:buNone/>
            </a:pPr>
            <a:endParaRPr lang="en-IN" dirty="0"/>
          </a:p>
        </p:txBody>
      </p:sp>
    </p:spTree>
    <p:extLst>
      <p:ext uri="{BB962C8B-B14F-4D97-AF65-F5344CB8AC3E}">
        <p14:creationId xmlns:p14="http://schemas.microsoft.com/office/powerpoint/2010/main" val="801154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Conclusion</a:t>
            </a:r>
            <a:endParaRPr lang="en-IN" dirty="0"/>
          </a:p>
        </p:txBody>
      </p:sp>
      <p:sp>
        <p:nvSpPr>
          <p:cNvPr id="5" name="Content Placeholder 4">
            <a:extLst>
              <a:ext uri="{FF2B5EF4-FFF2-40B4-BE49-F238E27FC236}">
                <a16:creationId xmlns:a16="http://schemas.microsoft.com/office/drawing/2014/main" id="{00918F4F-C5DB-9B63-5542-733D0989E8E7}"/>
              </a:ext>
            </a:extLst>
          </p:cNvPr>
          <p:cNvSpPr>
            <a:spLocks noGrp="1"/>
          </p:cNvSpPr>
          <p:nvPr>
            <p:ph idx="1"/>
          </p:nvPr>
        </p:nvSpPr>
        <p:spPr>
          <a:xfrm>
            <a:off x="206432" y="2026291"/>
            <a:ext cx="11779135" cy="2805418"/>
          </a:xfrm>
        </p:spPr>
        <p:txBody>
          <a:bodyPr/>
          <a:lstStyle/>
          <a:p>
            <a:pPr marL="0" indent="0" algn="ctr">
              <a:buNone/>
            </a:pPr>
            <a:r>
              <a:rPr lang="en-US" dirty="0" err="1"/>
              <a:t>IntelliFile</a:t>
            </a:r>
            <a:r>
              <a:rPr lang="en-US" dirty="0"/>
              <a:t> redefines file management by combining on-device intelligence, privacy-first design, and seamless cross-device access. With features like semantic search, conversational file interaction, smart versioning, offline access, and proactive reminders, it empowers users to organize, retrieve, and manage files efficiently without relying on the cloud. By integrating AI directly on the device, </a:t>
            </a:r>
            <a:r>
              <a:rPr lang="en-US" dirty="0" err="1"/>
              <a:t>IntelliFile</a:t>
            </a:r>
            <a:r>
              <a:rPr lang="en-US" dirty="0"/>
              <a:t> ensures data privacy, reduces latency, and provides a smarter, more intuitive file management experience for modern users.</a:t>
            </a:r>
            <a:endParaRPr lang="en-IN" dirty="0"/>
          </a:p>
        </p:txBody>
      </p:sp>
    </p:spTree>
    <p:extLst>
      <p:ext uri="{BB962C8B-B14F-4D97-AF65-F5344CB8AC3E}">
        <p14:creationId xmlns:p14="http://schemas.microsoft.com/office/powerpoint/2010/main" val="3548759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002060"/>
                </a:solidFill>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00206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1A03B6112D1A428B750E946E644AE8" ma:contentTypeVersion="13" ma:contentTypeDescription="Create a new document." ma:contentTypeScope="" ma:versionID="e953c183d8563bf2c08ab009194f37b5">
  <xsd:schema xmlns:xsd="http://www.w3.org/2001/XMLSchema" xmlns:xs="http://www.w3.org/2001/XMLSchema" xmlns:p="http://schemas.microsoft.com/office/2006/metadata/properties" xmlns:ns3="6c5ede72-6c77-4dbc-8810-6a24896cdf9f" xmlns:ns4="7acc4e3d-ef6f-45ab-90ff-6cea49b641c2" targetNamespace="http://schemas.microsoft.com/office/2006/metadata/properties" ma:root="true" ma:fieldsID="c717a0250c44d145f713751d3c285e89" ns3:_="" ns4:_="">
    <xsd:import namespace="6c5ede72-6c77-4dbc-8810-6a24896cdf9f"/>
    <xsd:import namespace="7acc4e3d-ef6f-45ab-90ff-6cea49b641c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5ede72-6c77-4dbc-8810-6a24896cd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cc4e3d-ef6f-45ab-90ff-6cea49b641c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2D447C5-F9D9-4ACE-B9EA-2E4EDD0DBA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5ede72-6c77-4dbc-8810-6a24896cdf9f"/>
    <ds:schemaRef ds:uri="7acc4e3d-ef6f-45ab-90ff-6cea49b641c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CFFC79F-3034-494A-8CF0-1D711B5DF0EF}">
  <ds:schemaRefs>
    <ds:schemaRef ds:uri="http://schemas.microsoft.com/sharepoint/v3/contenttype/forms"/>
  </ds:schemaRefs>
</ds:datastoreItem>
</file>

<file path=customXml/itemProps3.xml><?xml version="1.0" encoding="utf-8"?>
<ds:datastoreItem xmlns:ds="http://schemas.openxmlformats.org/officeDocument/2006/customXml" ds:itemID="{EFEFDC8E-1DB2-4422-A23C-D0C1E0F7E9FB}">
  <ds:schemaRefs>
    <ds:schemaRef ds:uri="http://schemas.openxmlformats.org/package/2006/metadata/core-properties"/>
    <ds:schemaRef ds:uri="7acc4e3d-ef6f-45ab-90ff-6cea49b641c2"/>
    <ds:schemaRef ds:uri="http://www.w3.org/XML/1998/namespace"/>
    <ds:schemaRef ds:uri="http://purl.org/dc/elements/1.1/"/>
    <ds:schemaRef ds:uri="http://schemas.microsoft.com/office/2006/documentManagement/types"/>
    <ds:schemaRef ds:uri="6c5ede72-6c77-4dbc-8810-6a24896cdf9f"/>
    <ds:schemaRef ds:uri="http://purl.org/dc/terms/"/>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1531</TotalTime>
  <Words>1532</Words>
  <Application>Microsoft Office PowerPoint</Application>
  <PresentationFormat>Widescreen</PresentationFormat>
  <Paragraphs>133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Times New Roman</vt:lpstr>
      <vt:lpstr>Wingdings</vt:lpstr>
      <vt:lpstr>Custom Design</vt:lpstr>
      <vt:lpstr>PowerPoint Presentation</vt:lpstr>
      <vt:lpstr>   Overview</vt:lpstr>
      <vt:lpstr>   Problem Statement</vt:lpstr>
      <vt:lpstr>   Solution</vt:lpstr>
      <vt:lpstr>Existing System with their gaps/drawback</vt:lpstr>
      <vt:lpstr>   Literature Review</vt:lpstr>
      <vt:lpstr>   Flowchart</vt:lpstr>
      <vt:lpstr>Proposed Methodology</vt:lpstr>
      <vt:lpstr>Selected Algorithms</vt:lpstr>
      <vt:lpstr>Selected Algorithms</vt:lpstr>
      <vt:lpstr>Description Of Exsisting Dataset</vt:lpstr>
      <vt:lpstr>Description Of Exsisting Dataset</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SHIVAM.VORA@svkmmumbai.onmicrosoft.com</dc:creator>
  <cp:lastModifiedBy>Rishi Vejani</cp:lastModifiedBy>
  <cp:revision>103</cp:revision>
  <dcterms:created xsi:type="dcterms:W3CDTF">2019-06-11T05:35:51Z</dcterms:created>
  <dcterms:modified xsi:type="dcterms:W3CDTF">2025-11-17T15:46:50Z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0x010100801A03B6112D1A428B750E946E644AE8</vt:lpwstr>
  </property>
</Properties>
</file>